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2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92B"/>
                </a:solidFill>
                <a:latin typeface="Arial"/>
              </a:defRPr>
            </a:pPr>
            <a:r>
              <a:rPr lang="es-ES" sz="1300" b="0" i="0" u="none" strike="noStrike">
                <a:solidFill>
                  <a:srgbClr val="13292B"/>
                </a:solidFill>
                <a:latin typeface="Arial"/>
              </a:rPr>
              <a:t>MRR proyectado (miles de MXN)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(miles MXN)</c:v>
                </c:pt>
              </c:strCache>
            </c:strRef>
          </c:tx>
          <c:spPr>
            <a:solidFill>
              <a:srgbClr val="0A7E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329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8 doctores</c:v>
                </c:pt>
                <c:pt idx="1">
                  <c:v>20 doctores</c:v>
                </c:pt>
                <c:pt idx="2">
                  <c:v>40 doctores</c:v>
                </c:pt>
                <c:pt idx="3">
                  <c:v>60 doctores</c:v>
                </c:pt>
                <c:pt idx="4">
                  <c:v>80 doctores</c:v>
                </c:pt>
                <c:pt idx="5">
                  <c:v>100 doctores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C6-49EC-A26C-3983028FA8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6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F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6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2520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4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0A7E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2926080" cy="292608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MIDOC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integral de gestión médica para consultorios privados en México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251960"/>
            <a:ext cx="6949440" cy="822960"/>
          </a:xfrm>
          <a:prstGeom prst="rect">
            <a:avLst/>
          </a:prstGeom>
          <a:solidFill>
            <a:srgbClr val="0A7E82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425196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“Doctoralia te consigue pacientes. </a:t>
            </a: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 te ayuda a atenderlos mejor.”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9FD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PARA INVERSIONISTAS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9FD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médicos mexicanos con consultorio privado operan con herramientas fragmentadas y procesos manuales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2194560"/>
            <a:ext cx="731520" cy="73152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535" y="23847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08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Expedientes en papel o Excel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cumplimiento estructurado de NOM-004 ni respaldo seguro de la información clínica.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502152" y="18745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9412" y="2194560"/>
            <a:ext cx="731520" cy="73152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607" y="238475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5032" y="3108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Cobros informales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85032" y="38404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en efectivo o transferencia, sin facturación CFDI automática ni control de flujo de caja.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64224" y="18745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01484" y="2194560"/>
            <a:ext cx="731520" cy="73152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1679" y="238475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47104" y="3108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seguimiento post-consulta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547104" y="38404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que no regresan, recordatorios manuales por WhatsApp personal, sin trazabilidad.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226296" y="18745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63556" y="2194560"/>
            <a:ext cx="731520" cy="73152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3751" y="238475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09176" y="3108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desconectadas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409176" y="38404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Agenda, recetas, pagos y comunicación viven en apps distintas que no se hablan entre sí.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4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solución: MIDOC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único que conecta cada paso de la práctica médica, del expediente al cobro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A7E82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225052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clínico NOM-004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SOAP estructuradas, cumplimiento normativo desde el diseño.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5112" y="18745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A7E82">
              <a:alpha val="7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553712" y="210312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1113" y="225052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85232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Recetas digitales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53712" y="27432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electrónica y exportación a PDF, listas para el paciente.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10144" y="18745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A7E82">
              <a:alpha val="70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8238744" y="210312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6145" y="225052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+ CFDI automático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38744" y="27432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Stripe, Conekta y OXXO integrados con facturación fiscal.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096512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A7E82">
              <a:alpha val="70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432511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081" y="4472513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2793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Videoconsulta con IA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68680" y="4965192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Transcripción en tiempo real durante la sesión.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25112" y="4096512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A7E82">
              <a:alpha val="70000"/>
            </a:srgbClr>
          </a:solidFill>
          <a:ln/>
        </p:spPr>
      </p:sp>
      <p:sp>
        <p:nvSpPr>
          <p:cNvPr id="25" name="Shape 19"/>
          <p:cNvSpPr/>
          <p:nvPr/>
        </p:nvSpPr>
        <p:spPr>
          <a:xfrm>
            <a:off x="4553712" y="432511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1113" y="4472513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85232" y="42793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integrado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53712" y="4965192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y secuencias de notificación automatizadas.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10144" y="4096512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A7E82">
              <a:alpha val="70000"/>
            </a:srgbClr>
          </a:solidFill>
          <a:ln/>
        </p:spPr>
      </p:sp>
      <p:sp>
        <p:nvSpPr>
          <p:cNvPr id="30" name="Shape 23"/>
          <p:cNvSpPr/>
          <p:nvPr/>
        </p:nvSpPr>
        <p:spPr>
          <a:xfrm>
            <a:off x="8238744" y="4325112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6145" y="4472513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42793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asistido por IA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238744" y="4965192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imágenes clínicas con Claude Vision.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FD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D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recorrido del médico dentro de MIDOC, de principio a fin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2148840"/>
            <a:ext cx="822960" cy="82296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250" y="23628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20574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8862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88620" y="35204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paciente llega por Doctoralia o WhatsApp y se agenda en segundos.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19172" y="2560320"/>
            <a:ext cx="265176" cy="0"/>
          </a:xfrm>
          <a:prstGeom prst="line">
            <a:avLst/>
          </a:prstGeom>
          <a:noFill/>
          <a:ln w="25400">
            <a:solidFill>
              <a:srgbClr val="C7DEDC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3383280" y="2148840"/>
            <a:ext cx="822960" cy="82296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7250" y="236281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20574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67462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674620" y="35204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SOAP en vivo, presencial o por videoconsulta con transcripción.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805172" y="2560320"/>
            <a:ext cx="265176" cy="0"/>
          </a:xfrm>
          <a:prstGeom prst="line">
            <a:avLst/>
          </a:prstGeom>
          <a:noFill/>
          <a:ln w="25400">
            <a:solidFill>
              <a:srgbClr val="C7DEDC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5669280" y="2148840"/>
            <a:ext cx="822960" cy="82296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3250" y="236281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20574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96062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960620" y="35204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digital y envío inmediato al paciente por WhatsApp o PDF.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091172" y="2560320"/>
            <a:ext cx="265176" cy="0"/>
          </a:xfrm>
          <a:prstGeom prst="line">
            <a:avLst/>
          </a:prstGeom>
          <a:noFill/>
          <a:ln w="25400">
            <a:solidFill>
              <a:srgbClr val="C7DEDC"/>
            </a:solidFill>
            <a:prstDash val="dash"/>
          </a:ln>
        </p:spPr>
      </p:sp>
      <p:sp>
        <p:nvSpPr>
          <p:cNvPr id="22" name="Shape 17"/>
          <p:cNvSpPr/>
          <p:nvPr/>
        </p:nvSpPr>
        <p:spPr>
          <a:xfrm>
            <a:off x="7955280" y="2148840"/>
            <a:ext cx="822960" cy="82296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9250" y="2362810"/>
            <a:ext cx="395021" cy="39502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503920" y="20574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24662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246620" y="35204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con tarjeta, OXXO o transferencia; CFDI se genera solo.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9377172" y="2560320"/>
            <a:ext cx="265176" cy="0"/>
          </a:xfrm>
          <a:prstGeom prst="line">
            <a:avLst/>
          </a:prstGeom>
          <a:noFill/>
          <a:ln w="25400">
            <a:solidFill>
              <a:srgbClr val="C7DEDC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10241280" y="2148840"/>
            <a:ext cx="822960" cy="82296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5250" y="2362810"/>
            <a:ext cx="395021" cy="395021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789920" y="20574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953262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9532620" y="35204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autónomos dan seguimiento, recordatorios y reactivación.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E7F3F2"/>
          </a:solidFill>
          <a:ln/>
        </p:spPr>
      </p:sp>
      <p:sp>
        <p:nvSpPr>
          <p:cNvPr id="34" name="Text 27"/>
          <p:cNvSpPr/>
          <p:nvPr/>
        </p:nvSpPr>
        <p:spPr>
          <a:xfrm>
            <a:off x="914400" y="507492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corre sobre una sola base de datos en vivo (Supabase): </a:t>
            </a:r>
            <a:r>
              <a:rPr lang="en-US" sz="13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médico, panel del paciente y app móvil (Expo React Native) comparten la misma información en tiempo real.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ahora?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011680"/>
            <a:ext cx="566928" cy="566928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215908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94767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Digitalización acelerada de la salud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adopción de telemedicina y pagos digitales en México creció de forma sostenida tras la pandemia, y el paciente ya espera experiencias digitales.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17920" y="178308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46520" y="2011680"/>
            <a:ext cx="566928" cy="566928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921" y="215908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194767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regulatoria creciente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46520" y="26060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NOM-004 y la LFPDPPP exigen expedientes trazables y manejo formal de datos de salud; el papel ya no es suficiente.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40233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4251960"/>
            <a:ext cx="566928" cy="566928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81" y="4399361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1879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Doctoralia consolidó la demanda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68680" y="484632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Millones de pacientes ya buscan y agendan citas ahí — pero el médico sigue gestionando su consultorio con herramientas sueltas después de esa cita.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217920" y="40233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46520" y="4251960"/>
            <a:ext cx="566928" cy="566928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3921" y="4399361"/>
            <a:ext cx="272125" cy="2721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78040" y="41879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Fiscalización más estricta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446520" y="484632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SAT exige CFDI en cada cobro; automatizar facturación deja de ser opcional para el médico independiente.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Tamaño de mercado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propia a partir de cifras públicas de INEGI (personas ocupadas como médicos, 2024)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291840" cy="3291840"/>
          </a:xfrm>
          <a:prstGeom prst="ellipse">
            <a:avLst/>
          </a:prstGeom>
          <a:solidFill>
            <a:srgbClr val="E7F3F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695651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365,980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26280" y="2514600"/>
            <a:ext cx="2468880" cy="2468880"/>
          </a:xfrm>
          <a:prstGeom prst="ellipse">
            <a:avLst/>
          </a:prstGeom>
          <a:solidFill>
            <a:srgbClr val="BFE6E2"/>
          </a:solidFill>
          <a:ln/>
        </p:spPr>
      </p:sp>
      <p:sp>
        <p:nvSpPr>
          <p:cNvPr id="8" name="Text 6"/>
          <p:cNvSpPr/>
          <p:nvPr/>
        </p:nvSpPr>
        <p:spPr>
          <a:xfrm>
            <a:off x="4526280" y="295899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26280" y="3429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~102,000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389620" y="2903220"/>
            <a:ext cx="1691640" cy="1691640"/>
          </a:xfrm>
          <a:prstGeom prst="ellipse">
            <a:avLst/>
          </a:prstGeom>
          <a:solidFill>
            <a:srgbClr val="0A7E82"/>
          </a:solidFill>
          <a:ln/>
        </p:spPr>
      </p:sp>
      <p:sp>
        <p:nvSpPr>
          <p:cNvPr id="11" name="Text 9"/>
          <p:cNvSpPr/>
          <p:nvPr/>
        </p:nvSpPr>
        <p:spPr>
          <a:xfrm>
            <a:off x="8389620" y="3207715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89620" y="34290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~5,000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68680" y="56235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médicos ocupados en México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43400" y="56235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médicos en ejercicio privado (28% del total)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18120" y="56235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 3 años: consultorios privados urbanos, especialidad y medicina general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negocio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mensual SaaS por consultorio, sin comisión por consulta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892040" cy="3931920"/>
          </a:xfrm>
          <a:prstGeom prst="roundRect">
            <a:avLst>
              <a:gd name="adj" fmla="val 3256"/>
            </a:avLst>
          </a:prstGeom>
          <a:solidFill>
            <a:srgbClr val="07474B"/>
          </a:solidFill>
          <a:ln/>
          <a:effectLst>
            <a:outerShdw blurRad="1270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1488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FUNDADORES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51460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$2,499</a:t>
            </a:r>
            <a:r>
              <a:rPr lang="en-US" sz="1600" dirty="0">
                <a:solidFill>
                  <a:srgbClr val="CFED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MXN/mes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005840" y="33375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fijo de por vida para los primeros consultorios que se suscriban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9776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39136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completo a todos los módulos</a:t>
            </a:r>
            <a:endParaRPr lang="en-US" sz="12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4348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43708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bloqueado permanentemente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89204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48280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en soporte y nuevas funciones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897880" y="1828800"/>
            <a:ext cx="4892040" cy="3931920"/>
          </a:xfrm>
          <a:prstGeom prst="roundRect">
            <a:avLst>
              <a:gd name="adj" fmla="val 3256"/>
            </a:avLst>
          </a:prstGeom>
          <a:solidFill>
            <a:srgbClr val="F1F7F7"/>
          </a:solidFill>
          <a:ln/>
        </p:spPr>
      </p:sp>
      <p:sp>
        <p:nvSpPr>
          <p:cNvPr id="15" name="Text 10"/>
          <p:cNvSpPr/>
          <p:nvPr/>
        </p:nvSpPr>
        <p:spPr>
          <a:xfrm>
            <a:off x="6263640" y="21488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A7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REGULAR (POST-LANZAMIENTO)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263640" y="251460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$3,999</a:t>
            </a:r>
            <a:r>
              <a:rPr lang="en-US" sz="1600" dirty="0">
                <a:solidFill>
                  <a:srgbClr val="5B76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MXN/mes</a:t>
            </a:r>
            <a:endParaRPr lang="en-US" sz="4600" dirty="0"/>
          </a:p>
        </p:txBody>
      </p:sp>
      <p:sp>
        <p:nvSpPr>
          <p:cNvPr id="17" name="Text 12"/>
          <p:cNvSpPr/>
          <p:nvPr/>
        </p:nvSpPr>
        <p:spPr>
          <a:xfrm>
            <a:off x="6263640" y="333756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 lista una vez concluida la etapa de preventa fundadores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63640" y="3977640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E7F3F2"/>
          </a:solidFill>
          <a:ln/>
        </p:spPr>
      </p:sp>
      <p:sp>
        <p:nvSpPr>
          <p:cNvPr id="19" name="Text 14"/>
          <p:cNvSpPr/>
          <p:nvPr/>
        </p:nvSpPr>
        <p:spPr>
          <a:xfrm>
            <a:off x="6492240" y="4114800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equilibrio: </a:t>
            </a:r>
            <a:r>
              <a:rPr lang="en-US" sz="12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doctores suscritos cubren el costo operativo base de la plataforma.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Posicionamiento frente a Doctoralia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 no compite por el paciente — compite por ser la mejor forma de atenderlo una vez que llega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7863840" cy="9144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7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Doctoralia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7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MIDOC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47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292B"/>
                          </a:solidFill>
                        </a:rPr>
                        <a:t>Adquisición de pacientes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45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7679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292B"/>
                          </a:solidFill>
                        </a:rPr>
                        <a:t>Agenda y recordatorios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45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45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292B"/>
                          </a:solidFill>
                        </a:rPr>
                        <a:t>Expediente clínico NOM-004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7679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45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292B"/>
                          </a:solidFill>
                        </a:rPr>
                        <a:t>Recetas digitales firmadas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7679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45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292B"/>
                          </a:solidFill>
                        </a:rPr>
                        <a:t>Cobros + facturación CFDI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7679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45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292B"/>
                          </a:solidFill>
                        </a:rPr>
                        <a:t>Videoconsulta con transcripción IA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45"/>
                          </a:solidFill>
                        </a:rPr>
                        <a:t>SI (nuevo)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45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292B"/>
                          </a:solidFill>
                        </a:rPr>
                        <a:t>Diagnóstico asistido por IA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7679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45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292B"/>
                          </a:solidFill>
                        </a:rPr>
                        <a:t>WhatsApp con automatización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B7679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A7E45"/>
                          </a:solidFill>
                        </a:rPr>
                        <a:t>SI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F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732520" y="1783080"/>
            <a:ext cx="2788920" cy="4160520"/>
          </a:xfrm>
          <a:prstGeom prst="roundRect">
            <a:avLst>
              <a:gd name="adj" fmla="val 3934"/>
            </a:avLst>
          </a:prstGeom>
          <a:solidFill>
            <a:srgbClr val="07474B"/>
          </a:solidFill>
          <a:ln/>
        </p:spPr>
      </p:sp>
      <p:sp>
        <p:nvSpPr>
          <p:cNvPr id="6" name="Shape 3"/>
          <p:cNvSpPr/>
          <p:nvPr/>
        </p:nvSpPr>
        <p:spPr>
          <a:xfrm>
            <a:off x="9052560" y="210312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868" y="2281428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61120" y="29718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Complementarios, no competidores</a:t>
            </a:r>
            <a:endParaRPr lang="en-US" sz="1500" dirty="0"/>
          </a:p>
        </p:txBody>
      </p:sp>
      <p:sp>
        <p:nvSpPr>
          <p:cNvPr id="4" name="Text 5"/>
          <p:cNvSpPr/>
          <p:nvPr/>
        </p:nvSpPr>
        <p:spPr>
          <a:xfrm>
            <a:off x="8961120" y="3703320"/>
            <a:ext cx="2331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Doctoralia resuelve el descubrimiento. MIDOC resuelve todo lo que pasa después de que el paciente agenda: el expediente, la receta, el cobro y el seguimiento.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actual del producto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partimos de una idea: la plataforma ya está construida y en operación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0195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74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Paneles de paciente y médico conectados a base de datos en vivo (Supabase)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01952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29400" y="1874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clínico NOM-004 (notas SOAP) y recetas digitales con firma electrónica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68880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2441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con Stripe, Conekta y OXXO, con generación automática de CFDI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46888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29400" y="2441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de videoconsulta con transcripción de IA en tiempo real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35808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05840" y="300837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WhatsApp con chatbot y secuencias de notificación</a:t>
            </a:r>
            <a:endParaRPr lang="en-US" sz="12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035808"/>
            <a:ext cx="256032" cy="25603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629400" y="300837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diagnóstico por imagen con IA (Claude Vision)</a:t>
            </a:r>
            <a:endParaRPr lang="en-US" sz="12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02736"/>
            <a:ext cx="256032" cy="25603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005840" y="357530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de resultados de laboratorio asistida por IA</a:t>
            </a:r>
            <a:endParaRPr lang="en-US" sz="12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602736"/>
            <a:ext cx="256032" cy="256032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629400" y="357530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contratos médicos digitales</a:t>
            </a:r>
            <a:endParaRPr lang="en-US" sz="120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69664"/>
            <a:ext cx="256032" cy="256032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1005840" y="414223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agentes autónomos: agenda, seguimiento, facturación y WhatsApp</a:t>
            </a:r>
            <a:endParaRPr lang="en-US" sz="12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4169664"/>
            <a:ext cx="256032" cy="256032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6629400" y="414223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en Expo React Native</a:t>
            </a:r>
            <a:endParaRPr lang="en-US" sz="1200" dirty="0"/>
          </a:p>
        </p:txBody>
      </p:sp>
      <p:sp>
        <p:nvSpPr>
          <p:cNvPr id="24" name="Text 12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25" name="Text 1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 de salida al mercado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88820" y="2057400"/>
            <a:ext cx="731520" cy="73152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015" y="224759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971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 fundadores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8680" y="3383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con countdown para asegurar precio de por vida y crear urgencia real.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434840" y="178308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83580" y="2057400"/>
            <a:ext cx="731520" cy="73152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3775" y="224759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971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por WhatsApp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663440" y="3383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principal de conversión: cercano, directo y natural para el médico mexicano.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229600" y="1783080"/>
            <a:ext cx="3429000" cy="2377440"/>
          </a:xfrm>
          <a:prstGeom prst="roundRect">
            <a:avLst>
              <a:gd name="adj" fmla="val 4615"/>
            </a:avLst>
          </a:prstGeom>
          <a:solidFill>
            <a:srgbClr val="F1F7F7"/>
          </a:solidFill>
          <a:ln/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578340" y="2057400"/>
            <a:ext cx="731520" cy="731520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8535" y="224759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0" y="2971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en LinkedIn y TikTok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458200" y="3383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sobre NOM-004, facturación y digitalización para atraer médicos calificados.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44348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07474B"/>
          </a:solidFill>
          <a:ln/>
        </p:spPr>
      </p:sp>
      <p:sp>
        <p:nvSpPr>
          <p:cNvPr id="19" name="Text 14"/>
          <p:cNvSpPr/>
          <p:nvPr/>
        </p:nvSpPr>
        <p:spPr>
          <a:xfrm>
            <a:off x="914400" y="44348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 Doctoralia: </a:t>
            </a:r>
            <a:r>
              <a:rPr lang="en-US" sz="125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Doctoralia activó recientemente videoconsulta y transcripción de audio. Nuestra ventana de diferenciación se mueve hacia el expediente clínico normativo, la facturación y la automatización post-consulta — el terreno donde Doctoralia no compite.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Proyección financiera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ingresos recurrentes (MRR) a precio fundadores, $2,499 MXN/mes por consultorio</a:t>
            </a:r>
            <a:endParaRPr lang="en-US" sz="13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691640"/>
          <a:ext cx="66751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69164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E7F3F2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16916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7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doctores
</a:t>
            </a:r>
            <a:endParaRPr lang="en-US" sz="2200" dirty="0"/>
          </a:p>
          <a:p>
            <a:pPr marL="0" indent="0">
              <a:buNone/>
            </a:pPr>
            <a:r>
              <a:rPr lang="en-US" sz="11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equilibrio operativo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589520" y="306324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E7F3F2"/>
          </a:solidFill>
          <a:ln/>
        </p:spPr>
      </p:sp>
      <p:sp>
        <p:nvSpPr>
          <p:cNvPr id="8" name="Text 5"/>
          <p:cNvSpPr/>
          <p:nvPr/>
        </p:nvSpPr>
        <p:spPr>
          <a:xfrm>
            <a:off x="7818120" y="306324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7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~$250,000 MXN/mes
</a:t>
            </a:r>
            <a:endParaRPr lang="en-US" sz="2000" dirty="0"/>
          </a:p>
          <a:p>
            <a:pPr marL="0" indent="0">
              <a:buNone/>
            </a:pPr>
            <a:r>
              <a:rPr lang="en-US" sz="11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estimado con 100 doctores suscritos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589520" y="44348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07474B"/>
          </a:solidFill>
          <a:ln/>
        </p:spPr>
      </p:sp>
      <p:sp>
        <p:nvSpPr>
          <p:cNvPr id="10" name="Text 7"/>
          <p:cNvSpPr/>
          <p:nvPr/>
        </p:nvSpPr>
        <p:spPr>
          <a:xfrm>
            <a:off x="7818120" y="44348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</a:t>
            </a:r>
            <a:r>
              <a:rPr lang="en-US" sz="1050" dirty="0">
                <a:solidFill>
                  <a:srgbClr val="D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basadas en el modelo interno de pricing fundadores. No incluyen costos de adquisición, infraestructura variable ni escenarios de abandono (churn).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ronda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fuerte: partimos de producto construido, no de una idea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83280" cy="1874520"/>
          </a:xfrm>
          <a:prstGeom prst="roundRect">
            <a:avLst>
              <a:gd name="adj" fmla="val 5854"/>
            </a:avLst>
          </a:prstGeom>
          <a:solidFill>
            <a:srgbClr val="07474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A LEVANTAR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US$500K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US$400K–$600K (~$7.4M–$11M MXN)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meses de runway hasta hitos de Serie 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0520" y="1691640"/>
            <a:ext cx="3383280" cy="1874520"/>
          </a:xfrm>
          <a:prstGeom prst="roundRect">
            <a:avLst>
              <a:gd name="adj" fmla="val 5854"/>
            </a:avLst>
          </a:prstGeom>
          <a:solidFill>
            <a:srgbClr val="F1F7F7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7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post-money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8912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de valuación sugerido: US$4M–$5M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descuento adicional propuesto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80960" y="1691640"/>
            <a:ext cx="3840480" cy="1874520"/>
          </a:xfrm>
          <a:prstGeom prst="roundRect">
            <a:avLst>
              <a:gd name="adj" fmla="val 5854"/>
            </a:avLst>
          </a:prstGeom>
          <a:solidFill>
            <a:srgbClr val="E7F3F2"/>
          </a:solidFill>
          <a:ln/>
        </p:spPr>
      </p:sp>
      <p:sp>
        <p:nvSpPr>
          <p:cNvPr id="15" name="Text 13"/>
          <p:cNvSpPr/>
          <p:nvPr/>
        </p:nvSpPr>
        <p:spPr>
          <a:xfrm>
            <a:off x="7909560" y="1874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7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ESTE RANGO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09560" y="219456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típico de pre-seed fuerte en LatAm con producto ya construido, ajustado a que healthtech capta rondas de menor tamaño que el promedio del mercado mexicano.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FONDOS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20624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1F7F7"/>
          </a:solidFill>
          <a:ln/>
        </p:spPr>
      </p:sp>
      <p:sp>
        <p:nvSpPr>
          <p:cNvPr id="19" name="Shape 17"/>
          <p:cNvSpPr/>
          <p:nvPr/>
        </p:nvSpPr>
        <p:spPr>
          <a:xfrm>
            <a:off x="841248" y="4407408"/>
            <a:ext cx="530352" cy="530352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140" y="4545300"/>
            <a:ext cx="254569" cy="254569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2331720" y="43708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A7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804672" y="504748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Adquisición de doctores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04672" y="539496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 fundadores y canal WhatsApp / LinkedIn / TikTok.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502152" y="420624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1F7F7"/>
          </a:solidFill>
          <a:ln/>
        </p:spPr>
      </p:sp>
      <p:sp>
        <p:nvSpPr>
          <p:cNvPr id="25" name="Shape 22"/>
          <p:cNvSpPr/>
          <p:nvPr/>
        </p:nvSpPr>
        <p:spPr>
          <a:xfrm>
            <a:off x="3703320" y="4407408"/>
            <a:ext cx="530352" cy="530352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1212" y="4545300"/>
            <a:ext cx="254569" cy="254569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193792" y="43708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A7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1700" dirty="0"/>
          </a:p>
        </p:txBody>
      </p:sp>
      <p:sp>
        <p:nvSpPr>
          <p:cNvPr id="28" name="Text 24"/>
          <p:cNvSpPr/>
          <p:nvPr/>
        </p:nvSpPr>
        <p:spPr>
          <a:xfrm>
            <a:off x="3666744" y="504748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y operación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3666744" y="539496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y éxito de cliente conforme crece la base de consultorios.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6364224" y="420624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1F7F7"/>
          </a:solidFill>
          <a:ln/>
        </p:spPr>
      </p:sp>
      <p:sp>
        <p:nvSpPr>
          <p:cNvPr id="31" name="Shape 27"/>
          <p:cNvSpPr/>
          <p:nvPr/>
        </p:nvSpPr>
        <p:spPr>
          <a:xfrm>
            <a:off x="6565392" y="4407408"/>
            <a:ext cx="530352" cy="530352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3284" y="4545300"/>
            <a:ext cx="254569" cy="254569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8055864" y="43708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A7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700" dirty="0"/>
          </a:p>
        </p:txBody>
      </p:sp>
      <p:sp>
        <p:nvSpPr>
          <p:cNvPr id="34" name="Text 29"/>
          <p:cNvSpPr/>
          <p:nvPr/>
        </p:nvSpPr>
        <p:spPr>
          <a:xfrm>
            <a:off x="6528816" y="504748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y tecnología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6528816" y="539496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(Sentry), rate limiting (Upstash) e infraestructura.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9226296" y="420624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1F7F7"/>
          </a:solidFill>
          <a:ln/>
        </p:spPr>
      </p:sp>
      <p:sp>
        <p:nvSpPr>
          <p:cNvPr id="37" name="Shape 32"/>
          <p:cNvSpPr/>
          <p:nvPr/>
        </p:nvSpPr>
        <p:spPr>
          <a:xfrm>
            <a:off x="9427464" y="4407408"/>
            <a:ext cx="530352" cy="530352"/>
          </a:xfrm>
          <a:prstGeom prst="ellipse">
            <a:avLst/>
          </a:prstGeom>
          <a:solidFill>
            <a:srgbClr val="0A7E82"/>
          </a:solidFill>
          <a:ln/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5356" y="4545300"/>
            <a:ext cx="254569" cy="254569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0917936" y="4370832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A7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1700" dirty="0"/>
          </a:p>
        </p:txBody>
      </p:sp>
      <p:sp>
        <p:nvSpPr>
          <p:cNvPr id="40" name="Text 34"/>
          <p:cNvSpPr/>
          <p:nvPr/>
        </p:nvSpPr>
        <p:spPr>
          <a:xfrm>
            <a:off x="9390888" y="504748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y legal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9390888" y="539496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 cumplimiento NOM-004 y LFPDPPP a mayor escala.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MIDOC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47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A7E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23774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MIDOC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109728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D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Doctoralia te consigue pacientes. MIDOC te ayuda a atenderlos mejor.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4206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1152</Words>
  <Application>Microsoft Office PowerPoint</Application>
  <PresentationFormat>Panorámica</PresentationFormat>
  <Paragraphs>200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MIDOC — Plataforma Integral de Gestión Médica</dc:title>
  <dc:subject>PptxGenJS Presentation</dc:subject>
  <dc:creator>MIDOC</dc:creator>
  <cp:lastModifiedBy>EMI Lopéz</cp:lastModifiedBy>
  <cp:revision>1</cp:revision>
  <dcterms:created xsi:type="dcterms:W3CDTF">2026-07-08T20:10:18Z</dcterms:created>
  <dcterms:modified xsi:type="dcterms:W3CDTF">2026-08-04T03:13:35Z</dcterms:modified>
</cp:coreProperties>
</file>