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7" d="100"/>
          <a:sy n="87" d="100"/>
        </p:scale>
        <p:origin x="499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464873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3A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371600"/>
            <a:ext cx="5029200" cy="5029200"/>
          </a:xfrm>
          <a:prstGeom prst="ellipse">
            <a:avLst/>
          </a:prstGeom>
          <a:solidFill>
            <a:srgbClr val="028090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828800" y="4389120"/>
            <a:ext cx="4572000" cy="4572000"/>
          </a:xfrm>
          <a:prstGeom prst="ellipse">
            <a:avLst/>
          </a:prstGeom>
          <a:solidFill>
            <a:srgbClr val="00A896">
              <a:alpha val="4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33172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MIDOC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868680" y="32461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 consultorio, en una sola plataforma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68680" y="388620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Expediente clínico  ·  Recetas digitales  ·  Cobros y facturación  ·  Videoconsultas  ·  WhatsApp automático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68680" y="4617720"/>
            <a:ext cx="2011680" cy="0"/>
          </a:xfrm>
          <a:prstGeom prst="line">
            <a:avLst/>
          </a:prstGeom>
          <a:noFill/>
          <a:ln w="25400">
            <a:solidFill>
              <a:srgbClr val="02C39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60350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FA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Presentación para doctores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B1B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 día ya es suficientemente complicado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234440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mayoría de los consultorios privados operan con herramientas separadas que no se hablan entre sí.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2148840"/>
            <a:ext cx="2514600" cy="3383280"/>
          </a:xfrm>
          <a:prstGeom prst="roundRect">
            <a:avLst>
              <a:gd name="adj" fmla="val 4364"/>
            </a:avLst>
          </a:prstGeom>
          <a:solidFill>
            <a:srgbClr val="F4FAF9"/>
          </a:solidFill>
          <a:ln/>
        </p:spPr>
      </p:sp>
      <p:sp>
        <p:nvSpPr>
          <p:cNvPr id="5" name="Shape 3"/>
          <p:cNvSpPr/>
          <p:nvPr/>
        </p:nvSpPr>
        <p:spPr>
          <a:xfrm>
            <a:off x="1508760" y="2468880"/>
            <a:ext cx="777240" cy="7772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1508760" y="246888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✎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822960" y="3429000"/>
            <a:ext cx="2148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1B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Notas en papel o Excel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4114800"/>
            <a:ext cx="21488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Expedientes dispersos, difíciles de auditar y sin respaldo legal (NOM-004).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410712" y="2148840"/>
            <a:ext cx="2514600" cy="3383280"/>
          </a:xfrm>
          <a:prstGeom prst="roundRect">
            <a:avLst>
              <a:gd name="adj" fmla="val 4364"/>
            </a:avLst>
          </a:prstGeom>
          <a:solidFill>
            <a:srgbClr val="F4FAF9"/>
          </a:solidFill>
          <a:ln/>
        </p:spPr>
      </p:sp>
      <p:sp>
        <p:nvSpPr>
          <p:cNvPr id="10" name="Shape 8"/>
          <p:cNvSpPr/>
          <p:nvPr/>
        </p:nvSpPr>
        <p:spPr>
          <a:xfrm>
            <a:off x="4279392" y="2468880"/>
            <a:ext cx="777240" cy="7772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1" name="Text 9"/>
          <p:cNvSpPr/>
          <p:nvPr/>
        </p:nvSpPr>
        <p:spPr>
          <a:xfrm>
            <a:off x="4279392" y="246888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℞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3593592" y="3429000"/>
            <a:ext cx="2148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1B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Recetas manuales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593592" y="4114800"/>
            <a:ext cx="21488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firma electrónica, fáciles de falsificar y lentas de emitir.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181344" y="2148840"/>
            <a:ext cx="2514600" cy="3383280"/>
          </a:xfrm>
          <a:prstGeom prst="roundRect">
            <a:avLst>
              <a:gd name="adj" fmla="val 4364"/>
            </a:avLst>
          </a:prstGeom>
          <a:solidFill>
            <a:srgbClr val="F4FAF9"/>
          </a:solidFill>
          <a:ln/>
        </p:spPr>
      </p:sp>
      <p:sp>
        <p:nvSpPr>
          <p:cNvPr id="15" name="Shape 13"/>
          <p:cNvSpPr/>
          <p:nvPr/>
        </p:nvSpPr>
        <p:spPr>
          <a:xfrm>
            <a:off x="7050024" y="2468880"/>
            <a:ext cx="777240" cy="7772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6" name="Text 14"/>
          <p:cNvSpPr/>
          <p:nvPr/>
        </p:nvSpPr>
        <p:spPr>
          <a:xfrm>
            <a:off x="7050024" y="246888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6364224" y="3429000"/>
            <a:ext cx="2148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1B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Cobros informales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364224" y="4114800"/>
            <a:ext cx="21488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factura CFDI automática; horas perdidas al mes en administración.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951976" y="2148840"/>
            <a:ext cx="2514600" cy="3383280"/>
          </a:xfrm>
          <a:prstGeom prst="roundRect">
            <a:avLst>
              <a:gd name="adj" fmla="val 4364"/>
            </a:avLst>
          </a:prstGeom>
          <a:solidFill>
            <a:srgbClr val="F4FAF9"/>
          </a:solidFill>
          <a:ln/>
        </p:spPr>
      </p:sp>
      <p:sp>
        <p:nvSpPr>
          <p:cNvPr id="20" name="Shape 18"/>
          <p:cNvSpPr/>
          <p:nvPr/>
        </p:nvSpPr>
        <p:spPr>
          <a:xfrm>
            <a:off x="9820656" y="2468880"/>
            <a:ext cx="777240" cy="7772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1" name="Text 19"/>
          <p:cNvSpPr/>
          <p:nvPr/>
        </p:nvSpPr>
        <p:spPr>
          <a:xfrm>
            <a:off x="9820656" y="246888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✆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9134856" y="3429000"/>
            <a:ext cx="2148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1B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Seguimiento perdido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9134856" y="4114800"/>
            <a:ext cx="21488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Pacientes que no confirman citas ni regresan por falta de recordatorios.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57200" y="64008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B72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MIDOC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013A4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19456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solución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2606040"/>
            <a:ext cx="338328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MIDOC reúne todo tu consultorio en una sola plataforma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48640" y="4754880"/>
            <a:ext cx="3291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módulos integrados, pensados para la práctica médica privada en México.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4709160" y="502920"/>
            <a:ext cx="3383280" cy="1417320"/>
          </a:xfrm>
          <a:prstGeom prst="roundRect">
            <a:avLst>
              <a:gd name="adj" fmla="val 6452"/>
            </a:avLst>
          </a:prstGeom>
          <a:solidFill>
            <a:srgbClr val="F4FAF9"/>
          </a:solidFill>
          <a:ln/>
        </p:spPr>
      </p:sp>
      <p:sp>
        <p:nvSpPr>
          <p:cNvPr id="7" name="Shape 5"/>
          <p:cNvSpPr/>
          <p:nvPr/>
        </p:nvSpPr>
        <p:spPr>
          <a:xfrm>
            <a:off x="4937760" y="96012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8" name="Text 6"/>
          <p:cNvSpPr/>
          <p:nvPr/>
        </p:nvSpPr>
        <p:spPr>
          <a:xfrm>
            <a:off x="4937760" y="9601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577840" y="502920"/>
            <a:ext cx="237744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Expediente Clínico NOM-004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321040" y="502920"/>
            <a:ext cx="3383280" cy="1417320"/>
          </a:xfrm>
          <a:prstGeom prst="roundRect">
            <a:avLst>
              <a:gd name="adj" fmla="val 6452"/>
            </a:avLst>
          </a:prstGeom>
          <a:solidFill>
            <a:srgbClr val="F4FAF9"/>
          </a:solidFill>
          <a:ln/>
        </p:spPr>
      </p:sp>
      <p:sp>
        <p:nvSpPr>
          <p:cNvPr id="11" name="Shape 9"/>
          <p:cNvSpPr/>
          <p:nvPr/>
        </p:nvSpPr>
        <p:spPr>
          <a:xfrm>
            <a:off x="8549640" y="96012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2" name="Text 10"/>
          <p:cNvSpPr/>
          <p:nvPr/>
        </p:nvSpPr>
        <p:spPr>
          <a:xfrm>
            <a:off x="8549640" y="9601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9189720" y="502920"/>
            <a:ext cx="237744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Recetas con Firma Electrónica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709160" y="2148840"/>
            <a:ext cx="3383280" cy="1417320"/>
          </a:xfrm>
          <a:prstGeom prst="roundRect">
            <a:avLst>
              <a:gd name="adj" fmla="val 6452"/>
            </a:avLst>
          </a:prstGeom>
          <a:solidFill>
            <a:srgbClr val="F4FAF9"/>
          </a:solidFill>
          <a:ln/>
        </p:spPr>
      </p:sp>
      <p:sp>
        <p:nvSpPr>
          <p:cNvPr id="15" name="Shape 13"/>
          <p:cNvSpPr/>
          <p:nvPr/>
        </p:nvSpPr>
        <p:spPr>
          <a:xfrm>
            <a:off x="4937760" y="260604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6" name="Text 14"/>
          <p:cNvSpPr/>
          <p:nvPr/>
        </p:nvSpPr>
        <p:spPr>
          <a:xfrm>
            <a:off x="4937760" y="26060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577840" y="2148840"/>
            <a:ext cx="237744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Videoconsultas con IA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8321040" y="2148840"/>
            <a:ext cx="3383280" cy="1417320"/>
          </a:xfrm>
          <a:prstGeom prst="roundRect">
            <a:avLst>
              <a:gd name="adj" fmla="val 6452"/>
            </a:avLst>
          </a:prstGeom>
          <a:solidFill>
            <a:srgbClr val="F4FAF9"/>
          </a:solidFill>
          <a:ln/>
        </p:spPr>
      </p:sp>
      <p:sp>
        <p:nvSpPr>
          <p:cNvPr id="19" name="Shape 17"/>
          <p:cNvSpPr/>
          <p:nvPr/>
        </p:nvSpPr>
        <p:spPr>
          <a:xfrm>
            <a:off x="8549640" y="260604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0" name="Text 18"/>
          <p:cNvSpPr/>
          <p:nvPr/>
        </p:nvSpPr>
        <p:spPr>
          <a:xfrm>
            <a:off x="8549640" y="26060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9189720" y="2148840"/>
            <a:ext cx="237744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Cobros y Facturación CFDI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4709160" y="3794760"/>
            <a:ext cx="3383280" cy="1417320"/>
          </a:xfrm>
          <a:prstGeom prst="roundRect">
            <a:avLst>
              <a:gd name="adj" fmla="val 6452"/>
            </a:avLst>
          </a:prstGeom>
          <a:solidFill>
            <a:srgbClr val="F4FAF9"/>
          </a:solidFill>
          <a:ln/>
        </p:spPr>
      </p:sp>
      <p:sp>
        <p:nvSpPr>
          <p:cNvPr id="23" name="Shape 21"/>
          <p:cNvSpPr/>
          <p:nvPr/>
        </p:nvSpPr>
        <p:spPr>
          <a:xfrm>
            <a:off x="4937760" y="425196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4" name="Text 22"/>
          <p:cNvSpPr/>
          <p:nvPr/>
        </p:nvSpPr>
        <p:spPr>
          <a:xfrm>
            <a:off x="4937760" y="42519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577840" y="3794760"/>
            <a:ext cx="237744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Automatización WhatsApp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8321040" y="3794760"/>
            <a:ext cx="3383280" cy="1417320"/>
          </a:xfrm>
          <a:prstGeom prst="roundRect">
            <a:avLst>
              <a:gd name="adj" fmla="val 6452"/>
            </a:avLst>
          </a:prstGeom>
          <a:solidFill>
            <a:srgbClr val="F4FAF9"/>
          </a:solidFill>
          <a:ln/>
        </p:spPr>
      </p:sp>
      <p:sp>
        <p:nvSpPr>
          <p:cNvPr id="27" name="Shape 25"/>
          <p:cNvSpPr/>
          <p:nvPr/>
        </p:nvSpPr>
        <p:spPr>
          <a:xfrm>
            <a:off x="8549640" y="425196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8" name="Text 26"/>
          <p:cNvSpPr/>
          <p:nvPr/>
        </p:nvSpPr>
        <p:spPr>
          <a:xfrm>
            <a:off x="8549640" y="42519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9189720" y="3794760"/>
            <a:ext cx="237744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 y Citas Inteligente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4709160" y="5440680"/>
            <a:ext cx="3383280" cy="1417320"/>
          </a:xfrm>
          <a:prstGeom prst="roundRect">
            <a:avLst>
              <a:gd name="adj" fmla="val 6452"/>
            </a:avLst>
          </a:prstGeom>
          <a:solidFill>
            <a:srgbClr val="F4FAF9"/>
          </a:solidFill>
          <a:ln/>
        </p:spPr>
      </p:sp>
      <p:sp>
        <p:nvSpPr>
          <p:cNvPr id="31" name="Shape 29"/>
          <p:cNvSpPr/>
          <p:nvPr/>
        </p:nvSpPr>
        <p:spPr>
          <a:xfrm>
            <a:off x="4937760" y="589788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32" name="Text 30"/>
          <p:cNvSpPr/>
          <p:nvPr/>
        </p:nvSpPr>
        <p:spPr>
          <a:xfrm>
            <a:off x="4937760" y="58978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5577840" y="5440680"/>
            <a:ext cx="237744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Portal y App del Paciente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8321040" y="5440680"/>
            <a:ext cx="3383280" cy="1417320"/>
          </a:xfrm>
          <a:prstGeom prst="roundRect">
            <a:avLst>
              <a:gd name="adj" fmla="val 6452"/>
            </a:avLst>
          </a:prstGeom>
          <a:solidFill>
            <a:srgbClr val="F4FAF9"/>
          </a:solidFill>
          <a:ln/>
        </p:spPr>
      </p:sp>
      <p:sp>
        <p:nvSpPr>
          <p:cNvPr id="35" name="Shape 33"/>
          <p:cNvSpPr/>
          <p:nvPr/>
        </p:nvSpPr>
        <p:spPr>
          <a:xfrm>
            <a:off x="8549640" y="589788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36" name="Text 34"/>
          <p:cNvSpPr/>
          <p:nvPr/>
        </p:nvSpPr>
        <p:spPr>
          <a:xfrm>
            <a:off x="8549640" y="58978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9189720" y="5440680"/>
            <a:ext cx="237744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y Reportes</a:t>
            </a:r>
            <a:endParaRPr lang="en-US" sz="1250" dirty="0"/>
          </a:p>
        </p:txBody>
      </p:sp>
      <p:sp>
        <p:nvSpPr>
          <p:cNvPr id="38" name="Text 36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B1B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Cómo funciona, de principio a fin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23444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solo flujo conecta la consulta con el cobro y el seguimiento del paciente.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1577340" y="2788920"/>
            <a:ext cx="9006840" cy="0"/>
          </a:xfrm>
          <a:prstGeom prst="line">
            <a:avLst/>
          </a:prstGeom>
          <a:noFill/>
          <a:ln w="25400">
            <a:solidFill>
              <a:srgbClr val="D8E4E2"/>
            </a:solidFill>
            <a:prstDash val="dash"/>
          </a:ln>
        </p:spPr>
      </p:sp>
      <p:sp>
        <p:nvSpPr>
          <p:cNvPr id="5" name="Shape 3"/>
          <p:cNvSpPr/>
          <p:nvPr/>
        </p:nvSpPr>
        <p:spPr>
          <a:xfrm>
            <a:off x="1165860" y="2377440"/>
            <a:ext cx="822960" cy="82296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1165860" y="237744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640080" y="3429000"/>
            <a:ext cx="1874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1B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Paciente agenda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3977640"/>
            <a:ext cx="18745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Vía WhatsApp, app o portal — MIDOC confirma y recuerda la cita.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417570" y="2377440"/>
            <a:ext cx="822960" cy="82296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0" name="Text 8"/>
          <p:cNvSpPr/>
          <p:nvPr/>
        </p:nvSpPr>
        <p:spPr>
          <a:xfrm>
            <a:off x="3417570" y="237744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2891790" y="3429000"/>
            <a:ext cx="1874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1B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Consulta y nota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891790" y="3977640"/>
            <a:ext cx="18745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Videollamada o presencial; la IA ayuda a estructurar la nota clínica NOM-004.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669280" y="2377440"/>
            <a:ext cx="822960" cy="82296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4" name="Text 12"/>
          <p:cNvSpPr/>
          <p:nvPr/>
        </p:nvSpPr>
        <p:spPr>
          <a:xfrm>
            <a:off x="5669280" y="237744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5143500" y="3429000"/>
            <a:ext cx="1874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1B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Receta firmada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143500" y="3977640"/>
            <a:ext cx="18745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genera y firma electrónicamente en segundos, lista para el paciente.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920990" y="2377440"/>
            <a:ext cx="822960" cy="82296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8" name="Text 16"/>
          <p:cNvSpPr/>
          <p:nvPr/>
        </p:nvSpPr>
        <p:spPr>
          <a:xfrm>
            <a:off x="7920990" y="237744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7395210" y="3429000"/>
            <a:ext cx="1874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1B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Cobro y CFDI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395210" y="3977640"/>
            <a:ext cx="18745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cobra en el momento y se factura automáticamente.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0172700" y="2377440"/>
            <a:ext cx="822960" cy="82296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2" name="Text 20"/>
          <p:cNvSpPr/>
          <p:nvPr/>
        </p:nvSpPr>
        <p:spPr>
          <a:xfrm>
            <a:off x="10172700" y="237744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9646920" y="3429000"/>
            <a:ext cx="1874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1B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Seguimiento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9646920" y="3977640"/>
            <a:ext cx="18745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automático da seguimiento y agenda la próxima cita.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57200" y="64008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B72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MIDOC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97680" cy="6858000"/>
          </a:xfrm>
          <a:prstGeom prst="rect">
            <a:avLst/>
          </a:prstGeom>
          <a:solidFill>
            <a:srgbClr val="F4FAF9"/>
          </a:solidFill>
          <a:ln/>
        </p:spPr>
      </p:sp>
      <p:sp>
        <p:nvSpPr>
          <p:cNvPr id="3" name="Shape 1"/>
          <p:cNvSpPr/>
          <p:nvPr/>
        </p:nvSpPr>
        <p:spPr>
          <a:xfrm>
            <a:off x="960120" y="1005840"/>
            <a:ext cx="2377440" cy="4846320"/>
          </a:xfrm>
          <a:prstGeom prst="roundRect">
            <a:avLst>
              <a:gd name="adj" fmla="val 6923"/>
            </a:avLst>
          </a:prstGeom>
          <a:solidFill>
            <a:srgbClr val="FFFFFF"/>
          </a:solidFill>
          <a:ln w="25400">
            <a:solidFill>
              <a:srgbClr val="028090"/>
            </a:solidFill>
            <a:prstDash val="solid"/>
          </a:ln>
          <a:effectLst>
            <a:outerShdw blurRad="101600" dist="38100" dir="5400000" algn="bl" rotWithShape="0">
              <a:srgbClr val="1B1B1B">
                <a:alpha val="1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097280" y="1143000"/>
            <a:ext cx="2103120" cy="320040"/>
          </a:xfrm>
          <a:prstGeom prst="roundRect">
            <a:avLst>
              <a:gd name="adj" fmla="val 17143"/>
            </a:avLst>
          </a:prstGeom>
          <a:solidFill>
            <a:srgbClr val="028090"/>
          </a:solidFill>
          <a:ln/>
        </p:spPr>
      </p:sp>
      <p:sp>
        <p:nvSpPr>
          <p:cNvPr id="5" name="Shape 3"/>
          <p:cNvSpPr/>
          <p:nvPr/>
        </p:nvSpPr>
        <p:spPr>
          <a:xfrm>
            <a:off x="1097280" y="1600200"/>
            <a:ext cx="2103120" cy="384048"/>
          </a:xfrm>
          <a:prstGeom prst="roundRect">
            <a:avLst>
              <a:gd name="adj" fmla="val 14286"/>
            </a:avLst>
          </a:prstGeom>
          <a:solidFill>
            <a:srgbClr val="F4FA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16152" y="1600200"/>
            <a:ext cx="1874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Paciente: Ana Torres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1097280" y="2075688"/>
            <a:ext cx="210312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16152" y="2075688"/>
            <a:ext cx="1874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Diagnóstico: Migraña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1097280" y="2551176"/>
            <a:ext cx="2103120" cy="384048"/>
          </a:xfrm>
          <a:prstGeom prst="roundRect">
            <a:avLst>
              <a:gd name="adj" fmla="val 14286"/>
            </a:avLst>
          </a:prstGeom>
          <a:solidFill>
            <a:srgbClr val="F4FA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16152" y="2551176"/>
            <a:ext cx="1874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Última consulta: hoy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1097280" y="3026664"/>
            <a:ext cx="210312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216152" y="3026664"/>
            <a:ext cx="1874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Estudios: 2 archivos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846320" y="548640"/>
            <a:ext cx="594360" cy="59436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4" name="Text 12"/>
          <p:cNvSpPr/>
          <p:nvPr/>
        </p:nvSpPr>
        <p:spPr>
          <a:xfrm>
            <a:off x="4846320" y="54864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5623560" y="566928"/>
            <a:ext cx="59280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846320" y="1234440"/>
            <a:ext cx="670529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B1B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Expediente Clínico NOM-004</a:t>
            </a:r>
            <a:endParaRPr lang="en-US" sz="2700" dirty="0"/>
          </a:p>
        </p:txBody>
      </p:sp>
      <p:sp>
        <p:nvSpPr>
          <p:cNvPr id="17" name="Text 15"/>
          <p:cNvSpPr/>
          <p:nvPr/>
        </p:nvSpPr>
        <p:spPr>
          <a:xfrm>
            <a:off x="4846320" y="2011680"/>
            <a:ext cx="670529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Historial médico completo, digital y ordenado — cumpliendo la norma oficial mexicana desde el primer registro.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846320" y="2880360"/>
            <a:ext cx="6705295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3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Plantillas de nota clínica alineadas a NOM-004.</a:t>
            </a:r>
            <a:endParaRPr lang="en-US" sz="135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3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Historial completo del paciente en un solo lugar: consultas, diagnósticos, estudios.</a:t>
            </a:r>
            <a:endParaRPr lang="en-US" sz="135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3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Búsqueda instantánea y respaldo en la nube — nada se pierde ni se traspapela.</a:t>
            </a:r>
            <a:endParaRPr lang="en-US" sz="135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3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Acceso seguro desde consultorio, casa o el celular.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457200" y="64008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B72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MIDOC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94015" y="0"/>
            <a:ext cx="4297680" cy="6858000"/>
          </a:xfrm>
          <a:prstGeom prst="rect">
            <a:avLst/>
          </a:prstGeom>
          <a:solidFill>
            <a:srgbClr val="F4FAF9"/>
          </a:solidFill>
          <a:ln/>
        </p:spPr>
      </p:sp>
      <p:sp>
        <p:nvSpPr>
          <p:cNvPr id="3" name="Shape 1"/>
          <p:cNvSpPr/>
          <p:nvPr/>
        </p:nvSpPr>
        <p:spPr>
          <a:xfrm>
            <a:off x="8854135" y="1005840"/>
            <a:ext cx="2377440" cy="4846320"/>
          </a:xfrm>
          <a:prstGeom prst="roundRect">
            <a:avLst>
              <a:gd name="adj" fmla="val 6923"/>
            </a:avLst>
          </a:prstGeom>
          <a:solidFill>
            <a:srgbClr val="FFFFFF"/>
          </a:solidFill>
          <a:ln w="25400">
            <a:solidFill>
              <a:srgbClr val="00A896"/>
            </a:solidFill>
            <a:prstDash val="solid"/>
          </a:ln>
          <a:effectLst>
            <a:outerShdw blurRad="101600" dist="38100" dir="5400000" algn="bl" rotWithShape="0">
              <a:srgbClr val="1B1B1B">
                <a:alpha val="1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991295" y="1143000"/>
            <a:ext cx="2103120" cy="320040"/>
          </a:xfrm>
          <a:prstGeom prst="roundRect">
            <a:avLst>
              <a:gd name="adj" fmla="val 17143"/>
            </a:avLst>
          </a:prstGeom>
          <a:solidFill>
            <a:srgbClr val="00A896"/>
          </a:solidFill>
          <a:ln/>
        </p:spPr>
      </p:sp>
      <p:sp>
        <p:nvSpPr>
          <p:cNvPr id="5" name="Shape 3"/>
          <p:cNvSpPr/>
          <p:nvPr/>
        </p:nvSpPr>
        <p:spPr>
          <a:xfrm>
            <a:off x="8991295" y="1600200"/>
            <a:ext cx="2103120" cy="384048"/>
          </a:xfrm>
          <a:prstGeom prst="roundRect">
            <a:avLst>
              <a:gd name="adj" fmla="val 14286"/>
            </a:avLst>
          </a:prstGeom>
          <a:solidFill>
            <a:srgbClr val="F4FA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10167" y="1600200"/>
            <a:ext cx="1874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Rx Paracetamol 500mg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8991295" y="2075688"/>
            <a:ext cx="210312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10167" y="2075688"/>
            <a:ext cx="1874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8 hrs x 5 días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8991295" y="2551176"/>
            <a:ext cx="2103120" cy="384048"/>
          </a:xfrm>
          <a:prstGeom prst="roundRect">
            <a:avLst>
              <a:gd name="adj" fmla="val 14286"/>
            </a:avLst>
          </a:prstGeom>
          <a:solidFill>
            <a:srgbClr val="F4FA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10167" y="2551176"/>
            <a:ext cx="1874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Firmado electrónicamente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8991295" y="3026664"/>
            <a:ext cx="210312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10167" y="3026664"/>
            <a:ext cx="1874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Enviado ✓ WhatsApp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40080" y="548640"/>
            <a:ext cx="594360" cy="59436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54864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417320" y="566928"/>
            <a:ext cx="59280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0080" y="1234440"/>
            <a:ext cx="670529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B1B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Recetas Digitales con Firma Electrónica</a:t>
            </a:r>
            <a:endParaRPr lang="en-US" sz="2700" dirty="0"/>
          </a:p>
        </p:txBody>
      </p:sp>
      <p:sp>
        <p:nvSpPr>
          <p:cNvPr id="17" name="Text 15"/>
          <p:cNvSpPr/>
          <p:nvPr/>
        </p:nvSpPr>
        <p:spPr>
          <a:xfrm>
            <a:off x="640080" y="2011680"/>
            <a:ext cx="670529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Genera, firma y entrega recetas válidas legalmente en segundos, sin papel y sin errores de captura.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40080" y="2880360"/>
            <a:ext cx="6705295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3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Firma electrónica avanzada, válida ante farmacias y autoridades.</a:t>
            </a:r>
            <a:endParaRPr lang="en-US" sz="135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3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genera automáticamente a partir de la nota de consulta.</a:t>
            </a:r>
            <a:endParaRPr lang="en-US" sz="135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3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envía al paciente por WhatsApp o correo al instante.</a:t>
            </a:r>
            <a:endParaRPr lang="en-US" sz="135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3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Historial de recetas siempre disponible para consulta futura.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457200" y="64008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B72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MIDOC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97680" cy="6858000"/>
          </a:xfrm>
          <a:prstGeom prst="rect">
            <a:avLst/>
          </a:prstGeom>
          <a:solidFill>
            <a:srgbClr val="F4FAF9"/>
          </a:solidFill>
          <a:ln/>
        </p:spPr>
      </p:sp>
      <p:sp>
        <p:nvSpPr>
          <p:cNvPr id="3" name="Shape 1"/>
          <p:cNvSpPr/>
          <p:nvPr/>
        </p:nvSpPr>
        <p:spPr>
          <a:xfrm>
            <a:off x="960120" y="1005840"/>
            <a:ext cx="2377440" cy="4846320"/>
          </a:xfrm>
          <a:prstGeom prst="roundRect">
            <a:avLst>
              <a:gd name="adj" fmla="val 6923"/>
            </a:avLst>
          </a:prstGeom>
          <a:solidFill>
            <a:srgbClr val="FFFFFF"/>
          </a:solidFill>
          <a:ln w="25400">
            <a:solidFill>
              <a:srgbClr val="028090"/>
            </a:solidFill>
            <a:prstDash val="solid"/>
          </a:ln>
          <a:effectLst>
            <a:outerShdw blurRad="101600" dist="38100" dir="5400000" algn="bl" rotWithShape="0">
              <a:srgbClr val="1B1B1B">
                <a:alpha val="1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097280" y="1143000"/>
            <a:ext cx="2103120" cy="320040"/>
          </a:xfrm>
          <a:prstGeom prst="roundRect">
            <a:avLst>
              <a:gd name="adj" fmla="val 17143"/>
            </a:avLst>
          </a:prstGeom>
          <a:solidFill>
            <a:srgbClr val="028090"/>
          </a:solidFill>
          <a:ln/>
        </p:spPr>
      </p:sp>
      <p:sp>
        <p:nvSpPr>
          <p:cNvPr id="5" name="Shape 3"/>
          <p:cNvSpPr/>
          <p:nvPr/>
        </p:nvSpPr>
        <p:spPr>
          <a:xfrm>
            <a:off x="1097280" y="1600200"/>
            <a:ext cx="2103120" cy="384048"/>
          </a:xfrm>
          <a:prstGeom prst="roundRect">
            <a:avLst>
              <a:gd name="adj" fmla="val 14286"/>
            </a:avLst>
          </a:prstGeom>
          <a:solidFill>
            <a:srgbClr val="F4FA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16152" y="1600200"/>
            <a:ext cx="1874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 en curso: 12:30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1097280" y="2075688"/>
            <a:ext cx="210312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16152" y="2075688"/>
            <a:ext cx="1874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Paciente: Luis Ramírez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1097280" y="2551176"/>
            <a:ext cx="2103120" cy="384048"/>
          </a:xfrm>
          <a:prstGeom prst="roundRect">
            <a:avLst>
              <a:gd name="adj" fmla="val 14286"/>
            </a:avLst>
          </a:prstGeom>
          <a:solidFill>
            <a:srgbClr val="F4FA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16152" y="2551176"/>
            <a:ext cx="1874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IA: nota sugerida ✓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1097280" y="3026664"/>
            <a:ext cx="210312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216152" y="3026664"/>
            <a:ext cx="1874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Duración: 18 min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846320" y="548640"/>
            <a:ext cx="594360" cy="59436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4" name="Text 12"/>
          <p:cNvSpPr/>
          <p:nvPr/>
        </p:nvSpPr>
        <p:spPr>
          <a:xfrm>
            <a:off x="4846320" y="54864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5623560" y="566928"/>
            <a:ext cx="59280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846320" y="1234440"/>
            <a:ext cx="670529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B1B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Videoconsultas con IA</a:t>
            </a:r>
            <a:endParaRPr lang="en-US" sz="2700" dirty="0"/>
          </a:p>
        </p:txBody>
      </p:sp>
      <p:sp>
        <p:nvSpPr>
          <p:cNvPr id="17" name="Text 15"/>
          <p:cNvSpPr/>
          <p:nvPr/>
        </p:nvSpPr>
        <p:spPr>
          <a:xfrm>
            <a:off x="4846320" y="2011680"/>
            <a:ext cx="670529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Atiende pacientes a distancia con video de alta calidad y un asistente de IA que apoya la documentación.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846320" y="2880360"/>
            <a:ext cx="6705295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3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Videollamada integrada, sin instalar apps adicionales.</a:t>
            </a:r>
            <a:endParaRPr lang="en-US" sz="135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3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IA transcribe y sugiere estructura para la nota clínica.</a:t>
            </a:r>
            <a:endParaRPr lang="en-US" sz="135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3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 de espera virtual y recordatorios automáticos.</a:t>
            </a:r>
            <a:endParaRPr lang="en-US" sz="135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3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queda enlazado al expediente del paciente.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457200" y="64008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B72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MIDOC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94015" y="0"/>
            <a:ext cx="4297680" cy="6858000"/>
          </a:xfrm>
          <a:prstGeom prst="rect">
            <a:avLst/>
          </a:prstGeom>
          <a:solidFill>
            <a:srgbClr val="F4FAF9"/>
          </a:solidFill>
          <a:ln/>
        </p:spPr>
      </p:sp>
      <p:sp>
        <p:nvSpPr>
          <p:cNvPr id="3" name="Shape 1"/>
          <p:cNvSpPr/>
          <p:nvPr/>
        </p:nvSpPr>
        <p:spPr>
          <a:xfrm>
            <a:off x="8854135" y="1005840"/>
            <a:ext cx="2377440" cy="4846320"/>
          </a:xfrm>
          <a:prstGeom prst="roundRect">
            <a:avLst>
              <a:gd name="adj" fmla="val 6923"/>
            </a:avLst>
          </a:prstGeom>
          <a:solidFill>
            <a:srgbClr val="FFFFFF"/>
          </a:solidFill>
          <a:ln w="25400">
            <a:solidFill>
              <a:srgbClr val="02C39A"/>
            </a:solidFill>
            <a:prstDash val="solid"/>
          </a:ln>
          <a:effectLst>
            <a:outerShdw blurRad="101600" dist="38100" dir="5400000" algn="bl" rotWithShape="0">
              <a:srgbClr val="1B1B1B">
                <a:alpha val="1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991295" y="1143000"/>
            <a:ext cx="2103120" cy="320040"/>
          </a:xfrm>
          <a:prstGeom prst="roundRect">
            <a:avLst>
              <a:gd name="adj" fmla="val 17143"/>
            </a:avLst>
          </a:prstGeom>
          <a:solidFill>
            <a:srgbClr val="02C39A"/>
          </a:solidFill>
          <a:ln/>
        </p:spPr>
      </p:sp>
      <p:sp>
        <p:nvSpPr>
          <p:cNvPr id="5" name="Shape 3"/>
          <p:cNvSpPr/>
          <p:nvPr/>
        </p:nvSpPr>
        <p:spPr>
          <a:xfrm>
            <a:off x="8991295" y="1600200"/>
            <a:ext cx="2103120" cy="384048"/>
          </a:xfrm>
          <a:prstGeom prst="roundRect">
            <a:avLst>
              <a:gd name="adj" fmla="val 14286"/>
            </a:avLst>
          </a:prstGeom>
          <a:solidFill>
            <a:srgbClr val="F4FA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10167" y="1600200"/>
            <a:ext cx="1874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 general: $800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8991295" y="2075688"/>
            <a:ext cx="210312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10167" y="2075688"/>
            <a:ext cx="1874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CFDI timbrado ✓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8991295" y="2551176"/>
            <a:ext cx="2103120" cy="384048"/>
          </a:xfrm>
          <a:prstGeom prst="roundRect">
            <a:avLst>
              <a:gd name="adj" fmla="val 14286"/>
            </a:avLst>
          </a:prstGeom>
          <a:solidFill>
            <a:srgbClr val="F4FA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10167" y="2551176"/>
            <a:ext cx="1874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Método: Tarjeta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8991295" y="3026664"/>
            <a:ext cx="210312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10167" y="3026664"/>
            <a:ext cx="1874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Folio: A-0231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40080" y="548640"/>
            <a:ext cx="594360" cy="59436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54864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417320" y="566928"/>
            <a:ext cx="59280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0080" y="1234440"/>
            <a:ext cx="670529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B1B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Cobros y Facturación CFDI</a:t>
            </a:r>
            <a:endParaRPr lang="en-US" sz="2700" dirty="0"/>
          </a:p>
        </p:txBody>
      </p:sp>
      <p:sp>
        <p:nvSpPr>
          <p:cNvPr id="17" name="Text 15"/>
          <p:cNvSpPr/>
          <p:nvPr/>
        </p:nvSpPr>
        <p:spPr>
          <a:xfrm>
            <a:off x="640080" y="2011680"/>
            <a:ext cx="670529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Cobra la consulta y factura automáticamente, sin procesos manuales ni depender de un contador.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40080" y="2880360"/>
            <a:ext cx="6705295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3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Cobro con tarjeta, transferencia o efectivo desde la misma plataforma.</a:t>
            </a:r>
            <a:endParaRPr lang="en-US" sz="135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3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CFDI generado y timbrado automáticamente ante el SAT.</a:t>
            </a:r>
            <a:endParaRPr lang="en-US" sz="135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3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Reportes de ingresos siempre actualizados.</a:t>
            </a:r>
            <a:endParaRPr lang="en-US" sz="135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3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Menos tiempo administrativo, más tiempo con tus pacientes.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457200" y="64008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B72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MIDOC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97680" cy="6858000"/>
          </a:xfrm>
          <a:prstGeom prst="rect">
            <a:avLst/>
          </a:prstGeom>
          <a:solidFill>
            <a:srgbClr val="F4FAF9"/>
          </a:solidFill>
          <a:ln/>
        </p:spPr>
      </p:sp>
      <p:sp>
        <p:nvSpPr>
          <p:cNvPr id="3" name="Shape 1"/>
          <p:cNvSpPr/>
          <p:nvPr/>
        </p:nvSpPr>
        <p:spPr>
          <a:xfrm>
            <a:off x="960120" y="1005840"/>
            <a:ext cx="2377440" cy="4846320"/>
          </a:xfrm>
          <a:prstGeom prst="roundRect">
            <a:avLst>
              <a:gd name="adj" fmla="val 6923"/>
            </a:avLst>
          </a:prstGeom>
          <a:solidFill>
            <a:srgbClr val="FFFFFF"/>
          </a:solidFill>
          <a:ln w="25400">
            <a:solidFill>
              <a:srgbClr val="028090"/>
            </a:solidFill>
            <a:prstDash val="solid"/>
          </a:ln>
          <a:effectLst>
            <a:outerShdw blurRad="101600" dist="38100" dir="5400000" algn="bl" rotWithShape="0">
              <a:srgbClr val="1B1B1B">
                <a:alpha val="1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097280" y="1143000"/>
            <a:ext cx="2103120" cy="320040"/>
          </a:xfrm>
          <a:prstGeom prst="roundRect">
            <a:avLst>
              <a:gd name="adj" fmla="val 17143"/>
            </a:avLst>
          </a:prstGeom>
          <a:solidFill>
            <a:srgbClr val="028090"/>
          </a:solidFill>
          <a:ln/>
        </p:spPr>
      </p:sp>
      <p:sp>
        <p:nvSpPr>
          <p:cNvPr id="5" name="Shape 3"/>
          <p:cNvSpPr/>
          <p:nvPr/>
        </p:nvSpPr>
        <p:spPr>
          <a:xfrm>
            <a:off x="1097280" y="1600200"/>
            <a:ext cx="2103120" cy="384048"/>
          </a:xfrm>
          <a:prstGeom prst="roundRect">
            <a:avLst>
              <a:gd name="adj" fmla="val 14286"/>
            </a:avLst>
          </a:prstGeom>
          <a:solidFill>
            <a:srgbClr val="F4FA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16152" y="1600200"/>
            <a:ext cx="1874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Recordatorio enviado ✓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1097280" y="2075688"/>
            <a:ext cx="210312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16152" y="2075688"/>
            <a:ext cx="1874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Cita mañana 10:00 am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1097280" y="2551176"/>
            <a:ext cx="2103120" cy="384048"/>
          </a:xfrm>
          <a:prstGeom prst="roundRect">
            <a:avLst>
              <a:gd name="adj" fmla="val 14286"/>
            </a:avLst>
          </a:prstGeom>
          <a:solidFill>
            <a:srgbClr val="F4FA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16152" y="2551176"/>
            <a:ext cx="1874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Receta lista para ti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1097280" y="3026664"/>
            <a:ext cx="210312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216152" y="3026664"/>
            <a:ext cx="1874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Pago confirmado ✓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846320" y="548640"/>
            <a:ext cx="594360" cy="59436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4" name="Text 12"/>
          <p:cNvSpPr/>
          <p:nvPr/>
        </p:nvSpPr>
        <p:spPr>
          <a:xfrm>
            <a:off x="4846320" y="54864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5623560" y="566928"/>
            <a:ext cx="59280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846320" y="1234440"/>
            <a:ext cx="670529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B1B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Automatización WhatsApp</a:t>
            </a:r>
            <a:endParaRPr lang="en-US" sz="2700" dirty="0"/>
          </a:p>
        </p:txBody>
      </p:sp>
      <p:sp>
        <p:nvSpPr>
          <p:cNvPr id="17" name="Text 15"/>
          <p:cNvSpPr/>
          <p:nvPr/>
        </p:nvSpPr>
        <p:spPr>
          <a:xfrm>
            <a:off x="4846320" y="2011680"/>
            <a:ext cx="670529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 citas, envía recordatorios y da seguimiento a tus pacientes de forma automática, por el canal que ya usan.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846320" y="2880360"/>
            <a:ext cx="6705295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3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Confirmación automática al agendar una cita.</a:t>
            </a:r>
            <a:endParaRPr lang="en-US" sz="135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3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Recordatorio 24 horas antes — menos inasistencias.</a:t>
            </a:r>
            <a:endParaRPr lang="en-US" sz="135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3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Aviso de receta lista y confirmación de pago.</a:t>
            </a:r>
            <a:endParaRPr lang="en-US" sz="135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3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Plantillas aprobadas por Meta, listas para usarse.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457200" y="64008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B72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MIDOC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94015" y="0"/>
            <a:ext cx="4297680" cy="6858000"/>
          </a:xfrm>
          <a:prstGeom prst="rect">
            <a:avLst/>
          </a:prstGeom>
          <a:solidFill>
            <a:srgbClr val="F4FAF9"/>
          </a:solidFill>
          <a:ln/>
        </p:spPr>
      </p:sp>
      <p:sp>
        <p:nvSpPr>
          <p:cNvPr id="3" name="Shape 1"/>
          <p:cNvSpPr/>
          <p:nvPr/>
        </p:nvSpPr>
        <p:spPr>
          <a:xfrm>
            <a:off x="8854135" y="1005840"/>
            <a:ext cx="2377440" cy="4846320"/>
          </a:xfrm>
          <a:prstGeom prst="roundRect">
            <a:avLst>
              <a:gd name="adj" fmla="val 6923"/>
            </a:avLst>
          </a:prstGeom>
          <a:solidFill>
            <a:srgbClr val="FFFFFF"/>
          </a:solidFill>
          <a:ln w="25400">
            <a:solidFill>
              <a:srgbClr val="00A896"/>
            </a:solidFill>
            <a:prstDash val="solid"/>
          </a:ln>
          <a:effectLst>
            <a:outerShdw blurRad="101600" dist="38100" dir="5400000" algn="bl" rotWithShape="0">
              <a:srgbClr val="1B1B1B">
                <a:alpha val="1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991295" y="1143000"/>
            <a:ext cx="2103120" cy="320040"/>
          </a:xfrm>
          <a:prstGeom prst="roundRect">
            <a:avLst>
              <a:gd name="adj" fmla="val 17143"/>
            </a:avLst>
          </a:prstGeom>
          <a:solidFill>
            <a:srgbClr val="00A896"/>
          </a:solidFill>
          <a:ln/>
        </p:spPr>
      </p:sp>
      <p:sp>
        <p:nvSpPr>
          <p:cNvPr id="5" name="Shape 3"/>
          <p:cNvSpPr/>
          <p:nvPr/>
        </p:nvSpPr>
        <p:spPr>
          <a:xfrm>
            <a:off x="8991295" y="1600200"/>
            <a:ext cx="2103120" cy="384048"/>
          </a:xfrm>
          <a:prstGeom prst="roundRect">
            <a:avLst>
              <a:gd name="adj" fmla="val 14286"/>
            </a:avLst>
          </a:prstGeom>
          <a:solidFill>
            <a:srgbClr val="F4FA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10167" y="1600200"/>
            <a:ext cx="1874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Hoy: 6 citas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8991295" y="2075688"/>
            <a:ext cx="210312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10167" y="2075688"/>
            <a:ext cx="1874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9:00 Ana Torres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8991295" y="2551176"/>
            <a:ext cx="2103120" cy="384048"/>
          </a:xfrm>
          <a:prstGeom prst="roundRect">
            <a:avLst>
              <a:gd name="adj" fmla="val 14286"/>
            </a:avLst>
          </a:prstGeom>
          <a:solidFill>
            <a:srgbClr val="F4FA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10167" y="2551176"/>
            <a:ext cx="1874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10:30 Luis Ramírez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8991295" y="3026664"/>
            <a:ext cx="210312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10167" y="3026664"/>
            <a:ext cx="1874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12:00 Videoconsulta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40080" y="548640"/>
            <a:ext cx="594360" cy="59436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54864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417320" y="566928"/>
            <a:ext cx="59280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0080" y="1234440"/>
            <a:ext cx="670529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B1B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Agenda y Citas Inteligente</a:t>
            </a:r>
            <a:endParaRPr lang="en-US" sz="2700" dirty="0"/>
          </a:p>
        </p:txBody>
      </p:sp>
      <p:sp>
        <p:nvSpPr>
          <p:cNvPr id="17" name="Text 15"/>
          <p:cNvSpPr/>
          <p:nvPr/>
        </p:nvSpPr>
        <p:spPr>
          <a:xfrm>
            <a:off x="640080" y="2011680"/>
            <a:ext cx="670529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 tu semana sin fricción, con una agenda que se sincroniza sola con recordatorios y videoconsultas.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40080" y="2880360"/>
            <a:ext cx="6705295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3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Vista de día, semana y mes, con bloqueo de horarios.</a:t>
            </a:r>
            <a:endParaRPr lang="en-US" sz="135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3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pacientes agendan solos desde WhatsApp o el portal.</a:t>
            </a:r>
            <a:endParaRPr lang="en-US" sz="135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3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Sincronización automática con recordatorios y video.</a:t>
            </a:r>
            <a:endParaRPr lang="en-US" sz="135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3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Menos llamadas, menos reagendas de último minuto.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457200" y="64008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B72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MIDOC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97680" cy="6858000"/>
          </a:xfrm>
          <a:prstGeom prst="rect">
            <a:avLst/>
          </a:prstGeom>
          <a:solidFill>
            <a:srgbClr val="F4FAF9"/>
          </a:solidFill>
          <a:ln/>
        </p:spPr>
      </p:sp>
      <p:sp>
        <p:nvSpPr>
          <p:cNvPr id="3" name="Shape 1"/>
          <p:cNvSpPr/>
          <p:nvPr/>
        </p:nvSpPr>
        <p:spPr>
          <a:xfrm>
            <a:off x="960120" y="1005840"/>
            <a:ext cx="2377440" cy="4846320"/>
          </a:xfrm>
          <a:prstGeom prst="roundRect">
            <a:avLst>
              <a:gd name="adj" fmla="val 6923"/>
            </a:avLst>
          </a:prstGeom>
          <a:solidFill>
            <a:srgbClr val="FFFFFF"/>
          </a:solidFill>
          <a:ln w="25400">
            <a:solidFill>
              <a:srgbClr val="028090"/>
            </a:solidFill>
            <a:prstDash val="solid"/>
          </a:ln>
          <a:effectLst>
            <a:outerShdw blurRad="101600" dist="38100" dir="5400000" algn="bl" rotWithShape="0">
              <a:srgbClr val="1B1B1B">
                <a:alpha val="1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097280" y="1143000"/>
            <a:ext cx="2103120" cy="320040"/>
          </a:xfrm>
          <a:prstGeom prst="roundRect">
            <a:avLst>
              <a:gd name="adj" fmla="val 17143"/>
            </a:avLst>
          </a:prstGeom>
          <a:solidFill>
            <a:srgbClr val="028090"/>
          </a:solidFill>
          <a:ln/>
        </p:spPr>
      </p:sp>
      <p:sp>
        <p:nvSpPr>
          <p:cNvPr id="5" name="Shape 3"/>
          <p:cNvSpPr/>
          <p:nvPr/>
        </p:nvSpPr>
        <p:spPr>
          <a:xfrm>
            <a:off x="1097280" y="1600200"/>
            <a:ext cx="2103120" cy="384048"/>
          </a:xfrm>
          <a:prstGeom prst="roundRect">
            <a:avLst>
              <a:gd name="adj" fmla="val 14286"/>
            </a:avLst>
          </a:prstGeom>
          <a:solidFill>
            <a:srgbClr val="F4FA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16152" y="1600200"/>
            <a:ext cx="1874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 recetas (2)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1097280" y="2075688"/>
            <a:ext cx="210312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16152" y="2075688"/>
            <a:ext cx="1874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Próxima cita: vie 10:00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1097280" y="2551176"/>
            <a:ext cx="2103120" cy="384048"/>
          </a:xfrm>
          <a:prstGeom prst="roundRect">
            <a:avLst>
              <a:gd name="adj" fmla="val 14286"/>
            </a:avLst>
          </a:prstGeom>
          <a:solidFill>
            <a:srgbClr val="F4FA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16152" y="2551176"/>
            <a:ext cx="1874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Mensajes con Dr. López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1097280" y="3026664"/>
            <a:ext cx="210312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216152" y="3026664"/>
            <a:ext cx="1874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 de lab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846320" y="548640"/>
            <a:ext cx="594360" cy="59436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4" name="Text 12"/>
          <p:cNvSpPr/>
          <p:nvPr/>
        </p:nvSpPr>
        <p:spPr>
          <a:xfrm>
            <a:off x="4846320" y="54864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5623560" y="566928"/>
            <a:ext cx="59280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846320" y="1234440"/>
            <a:ext cx="670529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B1B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Portal y App del Paciente</a:t>
            </a:r>
            <a:endParaRPr lang="en-US" sz="2700" dirty="0"/>
          </a:p>
        </p:txBody>
      </p:sp>
      <p:sp>
        <p:nvSpPr>
          <p:cNvPr id="17" name="Text 15"/>
          <p:cNvSpPr/>
          <p:nvPr/>
        </p:nvSpPr>
        <p:spPr>
          <a:xfrm>
            <a:off x="4846320" y="2011680"/>
            <a:ext cx="670529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Tus pacientes acceden a su historial, recetas y citas desde su celular — mejorando su experiencia contigo.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846320" y="2880360"/>
            <a:ext cx="6705295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3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móvil nativa (iOS y Android) para tus pacientes.</a:t>
            </a:r>
            <a:endParaRPr lang="en-US" sz="135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3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Acceso a recetas, resultados y próximas citas.</a:t>
            </a:r>
            <a:endParaRPr lang="en-US" sz="135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3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Refuerza tu imagen profesional frente a la competencia.</a:t>
            </a:r>
            <a:endParaRPr lang="en-US" sz="135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3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canal directo de comunicación contigo.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457200" y="64008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B72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MIDOC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94015" y="0"/>
            <a:ext cx="4297680" cy="6858000"/>
          </a:xfrm>
          <a:prstGeom prst="rect">
            <a:avLst/>
          </a:prstGeom>
          <a:solidFill>
            <a:srgbClr val="F4FAF9"/>
          </a:solidFill>
          <a:ln/>
        </p:spPr>
      </p:sp>
      <p:sp>
        <p:nvSpPr>
          <p:cNvPr id="3" name="Shape 1"/>
          <p:cNvSpPr/>
          <p:nvPr/>
        </p:nvSpPr>
        <p:spPr>
          <a:xfrm>
            <a:off x="8854135" y="1005840"/>
            <a:ext cx="2377440" cy="4846320"/>
          </a:xfrm>
          <a:prstGeom prst="roundRect">
            <a:avLst>
              <a:gd name="adj" fmla="val 6923"/>
            </a:avLst>
          </a:prstGeom>
          <a:solidFill>
            <a:srgbClr val="FFFFFF"/>
          </a:solidFill>
          <a:ln w="25400">
            <a:solidFill>
              <a:srgbClr val="02C39A"/>
            </a:solidFill>
            <a:prstDash val="solid"/>
          </a:ln>
          <a:effectLst>
            <a:outerShdw blurRad="101600" dist="38100" dir="5400000" algn="bl" rotWithShape="0">
              <a:srgbClr val="1B1B1B">
                <a:alpha val="1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991295" y="1143000"/>
            <a:ext cx="2103120" cy="320040"/>
          </a:xfrm>
          <a:prstGeom prst="roundRect">
            <a:avLst>
              <a:gd name="adj" fmla="val 17143"/>
            </a:avLst>
          </a:prstGeom>
          <a:solidFill>
            <a:srgbClr val="02C39A"/>
          </a:solidFill>
          <a:ln/>
        </p:spPr>
      </p:sp>
      <p:sp>
        <p:nvSpPr>
          <p:cNvPr id="5" name="Shape 3"/>
          <p:cNvSpPr/>
          <p:nvPr/>
        </p:nvSpPr>
        <p:spPr>
          <a:xfrm>
            <a:off x="8991295" y="1600200"/>
            <a:ext cx="2103120" cy="384048"/>
          </a:xfrm>
          <a:prstGeom prst="roundRect">
            <a:avLst>
              <a:gd name="adj" fmla="val 14286"/>
            </a:avLst>
          </a:prstGeom>
          <a:solidFill>
            <a:srgbClr val="F4FA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10167" y="1600200"/>
            <a:ext cx="1874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Ingresos del mes: $48,200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8991295" y="2075688"/>
            <a:ext cx="210312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10167" y="2075688"/>
            <a:ext cx="1874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Pacientes nuevos: 14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8991295" y="2551176"/>
            <a:ext cx="2103120" cy="384048"/>
          </a:xfrm>
          <a:prstGeom prst="roundRect">
            <a:avLst>
              <a:gd name="adj" fmla="val 14286"/>
            </a:avLst>
          </a:prstGeom>
          <a:solidFill>
            <a:srgbClr val="F4FA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10167" y="2551176"/>
            <a:ext cx="1874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Ocupación: 78%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8991295" y="3026664"/>
            <a:ext cx="210312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10167" y="3026664"/>
            <a:ext cx="1874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Recetas emitidas: 62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40080" y="548640"/>
            <a:ext cx="594360" cy="59436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54864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417320" y="566928"/>
            <a:ext cx="59280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0080" y="1234440"/>
            <a:ext cx="670529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B1B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 y Reportes</a:t>
            </a:r>
            <a:endParaRPr lang="en-US" sz="2700" dirty="0"/>
          </a:p>
        </p:txBody>
      </p:sp>
      <p:sp>
        <p:nvSpPr>
          <p:cNvPr id="17" name="Text 15"/>
          <p:cNvSpPr/>
          <p:nvPr/>
        </p:nvSpPr>
        <p:spPr>
          <a:xfrm>
            <a:off x="640080" y="2011680"/>
            <a:ext cx="670529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 el pulso de tu consultorio de un vistazo: pacientes, ingresos y ocupación, siempre a la mano.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40080" y="2880360"/>
            <a:ext cx="6705295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3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Ingresos del mes y comparativo contra meses anteriores.</a:t>
            </a:r>
            <a:endParaRPr lang="en-US" sz="135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3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Pacientes nuevos vs. recurrentes.</a:t>
            </a:r>
            <a:endParaRPr lang="en-US" sz="135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3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Ocupación de agenda y horas más solicitadas.</a:t>
            </a:r>
            <a:endParaRPr lang="en-US" sz="135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3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Exporta reportes para tu contador en un clic.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457200" y="64008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B72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MIDOC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13A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91440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Tranquilidad para ti y tus pacientes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28016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MIDOC está construido para cumplir con la normativa mexicana desde el diseño.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2286000"/>
            <a:ext cx="2514600" cy="3108960"/>
          </a:xfrm>
          <a:prstGeom prst="roundRect">
            <a:avLst>
              <a:gd name="adj" fmla="val 4364"/>
            </a:avLst>
          </a:prstGeom>
          <a:solidFill>
            <a:srgbClr val="0A4A50"/>
          </a:solidFill>
          <a:ln/>
        </p:spPr>
      </p:sp>
      <p:sp>
        <p:nvSpPr>
          <p:cNvPr id="5" name="Shape 3"/>
          <p:cNvSpPr/>
          <p:nvPr/>
        </p:nvSpPr>
        <p:spPr>
          <a:xfrm>
            <a:off x="1554480" y="2606040"/>
            <a:ext cx="685800" cy="68580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6" name="Text 4"/>
          <p:cNvSpPr/>
          <p:nvPr/>
        </p:nvSpPr>
        <p:spPr>
          <a:xfrm>
            <a:off x="1554480" y="260604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1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822960" y="347472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NOM-004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3977640"/>
            <a:ext cx="21488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Expedientes clínicos electrónicos conforme a la norma oficial.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410712" y="2286000"/>
            <a:ext cx="2514600" cy="3108960"/>
          </a:xfrm>
          <a:prstGeom prst="roundRect">
            <a:avLst>
              <a:gd name="adj" fmla="val 4364"/>
            </a:avLst>
          </a:prstGeom>
          <a:solidFill>
            <a:srgbClr val="0A4A50"/>
          </a:solidFill>
          <a:ln/>
        </p:spPr>
      </p:sp>
      <p:sp>
        <p:nvSpPr>
          <p:cNvPr id="10" name="Shape 8"/>
          <p:cNvSpPr/>
          <p:nvPr/>
        </p:nvSpPr>
        <p:spPr>
          <a:xfrm>
            <a:off x="4325112" y="2606040"/>
            <a:ext cx="685800" cy="68580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1" name="Text 9"/>
          <p:cNvSpPr/>
          <p:nvPr/>
        </p:nvSpPr>
        <p:spPr>
          <a:xfrm>
            <a:off x="4325112" y="260604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1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3593592" y="347472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Firma electrónica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593592" y="3977640"/>
            <a:ext cx="21488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Recetas con validez legal, trazables y auditables.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181344" y="2286000"/>
            <a:ext cx="2514600" cy="3108960"/>
          </a:xfrm>
          <a:prstGeom prst="roundRect">
            <a:avLst>
              <a:gd name="adj" fmla="val 4364"/>
            </a:avLst>
          </a:prstGeom>
          <a:solidFill>
            <a:srgbClr val="0A4A50"/>
          </a:solidFill>
          <a:ln/>
        </p:spPr>
      </p:sp>
      <p:sp>
        <p:nvSpPr>
          <p:cNvPr id="15" name="Shape 13"/>
          <p:cNvSpPr/>
          <p:nvPr/>
        </p:nvSpPr>
        <p:spPr>
          <a:xfrm>
            <a:off x="7095744" y="2606040"/>
            <a:ext cx="685800" cy="68580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6" name="Text 14"/>
          <p:cNvSpPr/>
          <p:nvPr/>
        </p:nvSpPr>
        <p:spPr>
          <a:xfrm>
            <a:off x="7095744" y="260604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1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6364224" y="347472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CFDI / SAT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364224" y="3977640"/>
            <a:ext cx="21488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Facturación timbrada automáticamente, sin errores manuales.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951976" y="2286000"/>
            <a:ext cx="2514600" cy="3108960"/>
          </a:xfrm>
          <a:prstGeom prst="roundRect">
            <a:avLst>
              <a:gd name="adj" fmla="val 4364"/>
            </a:avLst>
          </a:prstGeom>
          <a:solidFill>
            <a:srgbClr val="0A4A50"/>
          </a:solidFill>
          <a:ln/>
        </p:spPr>
      </p:sp>
      <p:sp>
        <p:nvSpPr>
          <p:cNvPr id="20" name="Shape 18"/>
          <p:cNvSpPr/>
          <p:nvPr/>
        </p:nvSpPr>
        <p:spPr>
          <a:xfrm>
            <a:off x="9866376" y="2606040"/>
            <a:ext cx="685800" cy="68580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1" name="Text 19"/>
          <p:cNvSpPr/>
          <p:nvPr/>
        </p:nvSpPr>
        <p:spPr>
          <a:xfrm>
            <a:off x="9866376" y="260604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1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9134856" y="347472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Datos protegidos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9134856" y="3977640"/>
            <a:ext cx="21488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Información alojada de forma segura, con respaldo continuo.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57200" y="64008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MIDOC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B1B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ecosistema, no diez aplicaciones sueltas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234440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lo que viste conectado entre sí — la información fluye sola de un módulo a otro.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2148840"/>
            <a:ext cx="2514600" cy="1554480"/>
          </a:xfrm>
          <a:prstGeom prst="roundRect">
            <a:avLst>
              <a:gd name="adj" fmla="val 7059"/>
            </a:avLst>
          </a:prstGeom>
          <a:solidFill>
            <a:srgbClr val="F4FAF9"/>
          </a:solidFill>
          <a:ln/>
        </p:spPr>
      </p:sp>
      <p:sp>
        <p:nvSpPr>
          <p:cNvPr id="5" name="Shape 3"/>
          <p:cNvSpPr/>
          <p:nvPr/>
        </p:nvSpPr>
        <p:spPr>
          <a:xfrm>
            <a:off x="1623060" y="2404872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1623060" y="240487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77240" y="3063240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Expediente Clínico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3383280" y="2148840"/>
            <a:ext cx="2514600" cy="1554480"/>
          </a:xfrm>
          <a:prstGeom prst="roundRect">
            <a:avLst>
              <a:gd name="adj" fmla="val 7059"/>
            </a:avLst>
          </a:prstGeom>
          <a:solidFill>
            <a:srgbClr val="F4FAF9"/>
          </a:solidFill>
          <a:ln/>
        </p:spPr>
      </p:sp>
      <p:sp>
        <p:nvSpPr>
          <p:cNvPr id="9" name="Shape 7"/>
          <p:cNvSpPr/>
          <p:nvPr/>
        </p:nvSpPr>
        <p:spPr>
          <a:xfrm>
            <a:off x="4366260" y="2404872"/>
            <a:ext cx="548640" cy="54864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0" name="Text 8"/>
          <p:cNvSpPr/>
          <p:nvPr/>
        </p:nvSpPr>
        <p:spPr>
          <a:xfrm>
            <a:off x="4366260" y="240487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520440" y="3063240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Recetas Digitales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126480" y="2148840"/>
            <a:ext cx="2514600" cy="1554480"/>
          </a:xfrm>
          <a:prstGeom prst="roundRect">
            <a:avLst>
              <a:gd name="adj" fmla="val 7059"/>
            </a:avLst>
          </a:prstGeom>
          <a:solidFill>
            <a:srgbClr val="F4FAF9"/>
          </a:solidFill>
          <a:ln/>
        </p:spPr>
      </p:sp>
      <p:sp>
        <p:nvSpPr>
          <p:cNvPr id="13" name="Shape 11"/>
          <p:cNvSpPr/>
          <p:nvPr/>
        </p:nvSpPr>
        <p:spPr>
          <a:xfrm>
            <a:off x="7109460" y="2404872"/>
            <a:ext cx="548640" cy="54864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4" name="Text 12"/>
          <p:cNvSpPr/>
          <p:nvPr/>
        </p:nvSpPr>
        <p:spPr>
          <a:xfrm>
            <a:off x="7109460" y="240487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263640" y="3063240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Videoconsultas IA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869680" y="2148840"/>
            <a:ext cx="2514600" cy="1554480"/>
          </a:xfrm>
          <a:prstGeom prst="roundRect">
            <a:avLst>
              <a:gd name="adj" fmla="val 7059"/>
            </a:avLst>
          </a:prstGeom>
          <a:solidFill>
            <a:srgbClr val="F4FAF9"/>
          </a:solidFill>
          <a:ln/>
        </p:spPr>
      </p:sp>
      <p:sp>
        <p:nvSpPr>
          <p:cNvPr id="17" name="Shape 15"/>
          <p:cNvSpPr/>
          <p:nvPr/>
        </p:nvSpPr>
        <p:spPr>
          <a:xfrm>
            <a:off x="9852660" y="2404872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8" name="Text 16"/>
          <p:cNvSpPr/>
          <p:nvPr/>
        </p:nvSpPr>
        <p:spPr>
          <a:xfrm>
            <a:off x="9852660" y="240487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9006840" y="3063240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Cobros y CFDI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40080" y="3977640"/>
            <a:ext cx="2514600" cy="1554480"/>
          </a:xfrm>
          <a:prstGeom prst="roundRect">
            <a:avLst>
              <a:gd name="adj" fmla="val 7059"/>
            </a:avLst>
          </a:prstGeom>
          <a:solidFill>
            <a:srgbClr val="F4FAF9"/>
          </a:solidFill>
          <a:ln/>
        </p:spPr>
      </p:sp>
      <p:sp>
        <p:nvSpPr>
          <p:cNvPr id="21" name="Shape 19"/>
          <p:cNvSpPr/>
          <p:nvPr/>
        </p:nvSpPr>
        <p:spPr>
          <a:xfrm>
            <a:off x="1623060" y="4233672"/>
            <a:ext cx="548640" cy="54864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2" name="Text 20"/>
          <p:cNvSpPr/>
          <p:nvPr/>
        </p:nvSpPr>
        <p:spPr>
          <a:xfrm>
            <a:off x="1623060" y="423367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777240" y="4892040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3383280" y="3977640"/>
            <a:ext cx="2514600" cy="1554480"/>
          </a:xfrm>
          <a:prstGeom prst="roundRect">
            <a:avLst>
              <a:gd name="adj" fmla="val 7059"/>
            </a:avLst>
          </a:prstGeom>
          <a:solidFill>
            <a:srgbClr val="F4FAF9"/>
          </a:solidFill>
          <a:ln/>
        </p:spPr>
      </p:sp>
      <p:sp>
        <p:nvSpPr>
          <p:cNvPr id="25" name="Shape 23"/>
          <p:cNvSpPr/>
          <p:nvPr/>
        </p:nvSpPr>
        <p:spPr>
          <a:xfrm>
            <a:off x="4366260" y="4233672"/>
            <a:ext cx="548640" cy="54864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6" name="Text 24"/>
          <p:cNvSpPr/>
          <p:nvPr/>
        </p:nvSpPr>
        <p:spPr>
          <a:xfrm>
            <a:off x="4366260" y="423367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3520440" y="4892040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6126480" y="3977640"/>
            <a:ext cx="2514600" cy="1554480"/>
          </a:xfrm>
          <a:prstGeom prst="roundRect">
            <a:avLst>
              <a:gd name="adj" fmla="val 7059"/>
            </a:avLst>
          </a:prstGeom>
          <a:solidFill>
            <a:srgbClr val="F4FAF9"/>
          </a:solidFill>
          <a:ln/>
        </p:spPr>
      </p:sp>
      <p:sp>
        <p:nvSpPr>
          <p:cNvPr id="29" name="Shape 27"/>
          <p:cNvSpPr/>
          <p:nvPr/>
        </p:nvSpPr>
        <p:spPr>
          <a:xfrm>
            <a:off x="7109460" y="4233672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0" name="Text 28"/>
          <p:cNvSpPr/>
          <p:nvPr/>
        </p:nvSpPr>
        <p:spPr>
          <a:xfrm>
            <a:off x="7109460" y="423367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6263640" y="4892040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Paciente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8869680" y="3977640"/>
            <a:ext cx="2514600" cy="1554480"/>
          </a:xfrm>
          <a:prstGeom prst="roundRect">
            <a:avLst>
              <a:gd name="adj" fmla="val 7059"/>
            </a:avLst>
          </a:prstGeom>
          <a:solidFill>
            <a:srgbClr val="F4FAF9"/>
          </a:solidFill>
          <a:ln/>
        </p:spPr>
      </p:sp>
      <p:sp>
        <p:nvSpPr>
          <p:cNvPr id="33" name="Shape 31"/>
          <p:cNvSpPr/>
          <p:nvPr/>
        </p:nvSpPr>
        <p:spPr>
          <a:xfrm>
            <a:off x="9852660" y="4233672"/>
            <a:ext cx="548640" cy="54864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34" name="Text 32"/>
          <p:cNvSpPr/>
          <p:nvPr/>
        </p:nvSpPr>
        <p:spPr>
          <a:xfrm>
            <a:off x="9852660" y="423367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9006840" y="4892040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250" dirty="0"/>
          </a:p>
        </p:txBody>
      </p:sp>
      <p:sp>
        <p:nvSpPr>
          <p:cNvPr id="36" name="Text 34"/>
          <p:cNvSpPr/>
          <p:nvPr/>
        </p:nvSpPr>
        <p:spPr>
          <a:xfrm>
            <a:off x="457200" y="64008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B72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MIDOC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91440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B1B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Planes simples, sin sorpresas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23444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solo pago mensual, sin costos ocultos ni contratos forzosos.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822960" y="2103120"/>
            <a:ext cx="5029200" cy="4023360"/>
          </a:xfrm>
          <a:prstGeom prst="roundRect">
            <a:avLst>
              <a:gd name="adj" fmla="val 3182"/>
            </a:avLst>
          </a:prstGeom>
          <a:solidFill>
            <a:srgbClr val="013A40"/>
          </a:solidFill>
          <a:ln/>
          <a:effectLst>
            <a:outerShdw blurRad="127000" dist="50800" dir="5400000" algn="bl" rotWithShape="0">
              <a:srgbClr val="1B1B1B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280160" y="246888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PRECIO FUNDADOR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280160" y="283464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$2,499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1280160" y="370332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MXN / mes  ·  precio fijo de por vida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280160" y="4206240"/>
            <a:ext cx="411480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Acceso a los 10 módulos, sin límite de pacientes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Precio congelado mientras seas cliente activo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 y capacitación incluidos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Disponible por tiempo limitado para primeros doctores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309360" y="2103120"/>
            <a:ext cx="5029200" cy="4023360"/>
          </a:xfrm>
          <a:prstGeom prst="roundRect">
            <a:avLst>
              <a:gd name="adj" fmla="val 3182"/>
            </a:avLst>
          </a:prstGeom>
          <a:solidFill>
            <a:srgbClr val="F4FAF9"/>
          </a:solidFill>
          <a:ln w="12700">
            <a:solidFill>
              <a:srgbClr val="D8E4E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766560" y="246888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PRECIO REGULAR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766560" y="283464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1B1B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$3,999</a:t>
            </a:r>
            <a:endParaRPr lang="en-US" sz="4600" dirty="0"/>
          </a:p>
        </p:txBody>
      </p:sp>
      <p:sp>
        <p:nvSpPr>
          <p:cNvPr id="12" name="Text 10"/>
          <p:cNvSpPr/>
          <p:nvPr/>
        </p:nvSpPr>
        <p:spPr>
          <a:xfrm>
            <a:off x="6766560" y="370332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MXN / mes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766560" y="4206240"/>
            <a:ext cx="411480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Acceso a los 10 módulos, sin límite de pacientes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Soporte y actualizaciones continuas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permanencia forzosa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Cancela cuando quieras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B72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MIDOC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B1B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Empezar es más fácil de lo que crees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23444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menos de una semana, tu consultorio está operando en MIDOC.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1965960" y="2926080"/>
            <a:ext cx="8229600" cy="0"/>
          </a:xfrm>
          <a:prstGeom prst="line">
            <a:avLst/>
          </a:prstGeom>
          <a:noFill/>
          <a:ln w="25400">
            <a:solidFill>
              <a:srgbClr val="D8E4E2"/>
            </a:solidFill>
            <a:prstDash val="dash"/>
          </a:ln>
        </p:spPr>
      </p:sp>
      <p:sp>
        <p:nvSpPr>
          <p:cNvPr id="5" name="Shape 3"/>
          <p:cNvSpPr/>
          <p:nvPr/>
        </p:nvSpPr>
        <p:spPr>
          <a:xfrm>
            <a:off x="1508760" y="2468880"/>
            <a:ext cx="914400" cy="9144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1508760" y="246888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822960" y="361188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B1B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Registro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4114800"/>
            <a:ext cx="2286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Creamos tu cuenta y configuramos tu consultorio.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251960" y="2468880"/>
            <a:ext cx="914400" cy="91440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0" name="Text 8"/>
          <p:cNvSpPr/>
          <p:nvPr/>
        </p:nvSpPr>
        <p:spPr>
          <a:xfrm>
            <a:off x="4251960" y="246888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3566160" y="361188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B1B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Migración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566160" y="4114800"/>
            <a:ext cx="2286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Pasamos tu expediente y pacientes actuales a MIDOC.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995160" y="2468880"/>
            <a:ext cx="914400" cy="91440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4" name="Text 12"/>
          <p:cNvSpPr/>
          <p:nvPr/>
        </p:nvSpPr>
        <p:spPr>
          <a:xfrm>
            <a:off x="6995160" y="246888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6309360" y="361188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B1B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Capacitación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309360" y="4114800"/>
            <a:ext cx="2286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 acompañamos en tus primeras consultas y recetas.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9738360" y="2468880"/>
            <a:ext cx="914400" cy="9144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8" name="Text 16"/>
          <p:cNvSpPr/>
          <p:nvPr/>
        </p:nvSpPr>
        <p:spPr>
          <a:xfrm>
            <a:off x="9738360" y="246888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052560" y="361188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B1B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 marcha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9052560" y="4114800"/>
            <a:ext cx="2286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Agenda, cobra y da seguimiento — todo desde MIDOC.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457200" y="64008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B72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MIDOC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13A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5029200" cy="5029200"/>
          </a:xfrm>
          <a:prstGeom prst="ellipse">
            <a:avLst/>
          </a:prstGeom>
          <a:solidFill>
            <a:srgbClr val="028090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144000" y="4114800"/>
            <a:ext cx="4572000" cy="4572000"/>
          </a:xfrm>
          <a:prstGeom prst="ellipse">
            <a:avLst/>
          </a:prstGeom>
          <a:solidFill>
            <a:srgbClr val="00A896">
              <a:alpha val="4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286000"/>
            <a:ext cx="9601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Lleva tu consultorio al siguiente nivel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868680" y="3200400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 una demo personalizada y descubre cómo MIDOC se adapta a tu consultorio.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68680" y="4114800"/>
            <a:ext cx="2377440" cy="594360"/>
          </a:xfrm>
          <a:prstGeom prst="roundRect">
            <a:avLst>
              <a:gd name="adj" fmla="val 49231"/>
            </a:avLst>
          </a:prstGeom>
          <a:solidFill>
            <a:srgbClr val="02C39A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4114800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1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 tu demo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68680" y="62179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FA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MIDOC — Software de gestión para consultorios privados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1235</Words>
  <Application>Microsoft Office PowerPoint</Application>
  <PresentationFormat>Panorámica</PresentationFormat>
  <Paragraphs>262</Paragraphs>
  <Slides>17</Slides>
  <Notes>17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17</vt:i4>
      </vt:variant>
    </vt:vector>
  </HeadingPairs>
  <TitlesOfParts>
    <vt:vector size="21" baseType="lpstr">
      <vt:lpstr>Arial</vt:lpstr>
      <vt:lpstr>Calibri</vt:lpstr>
      <vt:lpstr>Cambria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EMI Lopéz</cp:lastModifiedBy>
  <cp:revision>1</cp:revision>
  <dcterms:created xsi:type="dcterms:W3CDTF">2026-08-05T03:55:42Z</dcterms:created>
  <dcterms:modified xsi:type="dcterms:W3CDTF">2026-08-05T04:12:02Z</dcterms:modified>
</cp:coreProperties>
</file>